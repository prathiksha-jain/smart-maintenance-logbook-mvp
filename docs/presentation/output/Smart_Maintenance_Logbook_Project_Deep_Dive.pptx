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4a0033ba704089" /><Relationship Type="http://schemas.openxmlformats.org/officeDocument/2006/relationships/extended-properties" Target="/docProps/app.xml" Id="R6054aa689f0e4a8f" /><Relationship Type="http://schemas.openxmlformats.org/officeDocument/2006/relationships/officeDocument" Target="/ppt/presentation.xml" Id="R1478758a5d7e4f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25b17ce29b4099"/>
  </p:sldMasterIdLst>
  <p:notesMasterIdLst>
    <p:notesMasterId xmlns:r="http://schemas.openxmlformats.org/officeDocument/2006/relationships" r:id="Rda2b40f94918486e"/>
  </p:notesMasterIdLst>
  <p:sldIdLst>
    <p:sldId xmlns:r="http://schemas.openxmlformats.org/officeDocument/2006/relationships" id="256" r:id="R54965695de3344dc"/>
    <p:sldId xmlns:r="http://schemas.openxmlformats.org/officeDocument/2006/relationships" id="257" r:id="R5c75156b54cd4037"/>
    <p:sldId xmlns:r="http://schemas.openxmlformats.org/officeDocument/2006/relationships" id="258" r:id="Raa3531b2ef424763"/>
    <p:sldId xmlns:r="http://schemas.openxmlformats.org/officeDocument/2006/relationships" id="259" r:id="Rad611a39c9b74884"/>
    <p:sldId xmlns:r="http://schemas.openxmlformats.org/officeDocument/2006/relationships" id="260" r:id="R67f46f32ec5d458a"/>
    <p:sldId xmlns:r="http://schemas.openxmlformats.org/officeDocument/2006/relationships" id="261" r:id="R8486bf755e574b61"/>
    <p:sldId xmlns:r="http://schemas.openxmlformats.org/officeDocument/2006/relationships" id="262" r:id="R8986388ffefc47d4"/>
    <p:sldId xmlns:r="http://schemas.openxmlformats.org/officeDocument/2006/relationships" id="263" r:id="R7602a8453b1040f2"/>
    <p:sldId xmlns:r="http://schemas.openxmlformats.org/officeDocument/2006/relationships" id="264" r:id="R0fc085ba29514709"/>
    <p:sldId xmlns:r="http://schemas.openxmlformats.org/officeDocument/2006/relationships" id="265" r:id="R108f9ddf73c24115"/>
    <p:sldId xmlns:r="http://schemas.openxmlformats.org/officeDocument/2006/relationships" id="266" r:id="Rd4b12826fad54da1"/>
    <p:sldId xmlns:r="http://schemas.openxmlformats.org/officeDocument/2006/relationships" id="267" r:id="R67902a8835894558"/>
    <p:sldId xmlns:r="http://schemas.openxmlformats.org/officeDocument/2006/relationships" id="268" r:id="Rdcfae6e93d534d3b"/>
    <p:sldId xmlns:r="http://schemas.openxmlformats.org/officeDocument/2006/relationships" id="269" r:id="R90e6c750069c4463"/>
    <p:sldId xmlns:r="http://schemas.openxmlformats.org/officeDocument/2006/relationships" id="270" r:id="Ree51ba01eb454ea8"/>
    <p:sldId xmlns:r="http://schemas.openxmlformats.org/officeDocument/2006/relationships" id="271" r:id="R04efe6a572e44e34"/>
    <p:sldId xmlns:r="http://schemas.openxmlformats.org/officeDocument/2006/relationships" id="272" r:id="Rc30f23a03593438d"/>
    <p:sldId xmlns:r="http://schemas.openxmlformats.org/officeDocument/2006/relationships" id="273" r:id="Rc315daec8d244be5"/>
    <p:sldId xmlns:r="http://schemas.openxmlformats.org/officeDocument/2006/relationships" id="274" r:id="Rb9b33432861244fb"/>
    <p:sldId xmlns:r="http://schemas.openxmlformats.org/officeDocument/2006/relationships" id="275" r:id="R97667a3c418d4ac7"/>
    <p:sldId xmlns:r="http://schemas.openxmlformats.org/officeDocument/2006/relationships" id="276" r:id="R236c48efc5c54667"/>
    <p:sldId xmlns:r="http://schemas.openxmlformats.org/officeDocument/2006/relationships" id="277" r:id="Rac97dd606b914772"/>
    <p:sldId xmlns:r="http://schemas.openxmlformats.org/officeDocument/2006/relationships" id="278" r:id="Rca1843d22d3e40c3"/>
    <p:sldId xmlns:r="http://schemas.openxmlformats.org/officeDocument/2006/relationships" id="279" r:id="R47e9bb3d10ce459b"/>
    <p:sldId xmlns:r="http://schemas.openxmlformats.org/officeDocument/2006/relationships" id="280" r:id="R906cc4fefc9d45e9"/>
    <p:sldId xmlns:r="http://schemas.openxmlformats.org/officeDocument/2006/relationships" id="281" r:id="Re67e0ed608924041"/>
    <p:sldId xmlns:r="http://schemas.openxmlformats.org/officeDocument/2006/relationships" id="282" r:id="Raffb3d5ef6984d4f"/>
    <p:sldId xmlns:r="http://schemas.openxmlformats.org/officeDocument/2006/relationships" id="283" r:id="R44f568c5ed424929"/>
    <p:sldId xmlns:r="http://schemas.openxmlformats.org/officeDocument/2006/relationships" id="284" r:id="R3e21b489af6b47bd"/>
    <p:sldId xmlns:r="http://schemas.openxmlformats.org/officeDocument/2006/relationships" id="285" r:id="R17775610036c480f"/>
    <p:sldId xmlns:r="http://schemas.openxmlformats.org/officeDocument/2006/relationships" id="286" r:id="Rc48e26d4edde412b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5b17ce29b4099" /><Relationship Type="http://schemas.openxmlformats.org/officeDocument/2006/relationships/theme" Target="/ppt/theme/theme1.xml" Id="R752f12ab5ac54c3c" /><Relationship Type="http://schemas.openxmlformats.org/officeDocument/2006/relationships/notesMaster" Target="/ppt/notesMasters/notesMaster1.xml" Id="Rda2b40f94918486e" /><Relationship Type="http://schemas.openxmlformats.org/officeDocument/2006/relationships/presProps" Target="/ppt/presProps.xml" Id="Raf2736927b3a432f" /><Relationship Type="http://schemas.openxmlformats.org/officeDocument/2006/relationships/viewProps" Target="/ppt/viewProps.xml" Id="Rddc412586e104a77" /><Relationship Type="http://schemas.openxmlformats.org/officeDocument/2006/relationships/tableStyles" Target="/ppt/tableStyles.xml" Id="R5a5bd891041b42f1" /><Relationship Type="http://schemas.openxmlformats.org/officeDocument/2006/relationships/slide" Target="/ppt/slides/slide1.xml" Id="R54965695de3344dc" /><Relationship Type="http://schemas.openxmlformats.org/officeDocument/2006/relationships/slide" Target="/ppt/slides/slide2.xml" Id="R5c75156b54cd4037" /><Relationship Type="http://schemas.openxmlformats.org/officeDocument/2006/relationships/slide" Target="/ppt/slides/slide3.xml" Id="Raa3531b2ef424763" /><Relationship Type="http://schemas.openxmlformats.org/officeDocument/2006/relationships/slide" Target="/ppt/slides/slide4.xml" Id="Rad611a39c9b74884" /><Relationship Type="http://schemas.openxmlformats.org/officeDocument/2006/relationships/slide" Target="/ppt/slides/slide5.xml" Id="R67f46f32ec5d458a" /><Relationship Type="http://schemas.openxmlformats.org/officeDocument/2006/relationships/slide" Target="/ppt/slides/slide6.xml" Id="R8486bf755e574b61" /><Relationship Type="http://schemas.openxmlformats.org/officeDocument/2006/relationships/slide" Target="/ppt/slides/slide7.xml" Id="R8986388ffefc47d4" /><Relationship Type="http://schemas.openxmlformats.org/officeDocument/2006/relationships/slide" Target="/ppt/slides/slide8.xml" Id="R7602a8453b1040f2" /><Relationship Type="http://schemas.openxmlformats.org/officeDocument/2006/relationships/slide" Target="/ppt/slides/slide9.xml" Id="R0fc085ba29514709" /><Relationship Type="http://schemas.openxmlformats.org/officeDocument/2006/relationships/slide" Target="/ppt/slides/slide10.xml" Id="R108f9ddf73c24115" /><Relationship Type="http://schemas.openxmlformats.org/officeDocument/2006/relationships/slide" Target="/ppt/slides/slide11.xml" Id="Rd4b12826fad54da1" /><Relationship Type="http://schemas.openxmlformats.org/officeDocument/2006/relationships/slide" Target="/ppt/slides/slide12.xml" Id="R67902a8835894558" /><Relationship Type="http://schemas.openxmlformats.org/officeDocument/2006/relationships/slide" Target="/ppt/slides/slide13.xml" Id="Rdcfae6e93d534d3b" /><Relationship Type="http://schemas.openxmlformats.org/officeDocument/2006/relationships/slide" Target="/ppt/slides/slide14.xml" Id="R90e6c750069c4463" /><Relationship Type="http://schemas.openxmlformats.org/officeDocument/2006/relationships/slide" Target="/ppt/slides/slide15.xml" Id="Ree51ba01eb454ea8" /><Relationship Type="http://schemas.openxmlformats.org/officeDocument/2006/relationships/slide" Target="/ppt/slides/slide16.xml" Id="R04efe6a572e44e34" /><Relationship Type="http://schemas.openxmlformats.org/officeDocument/2006/relationships/slide" Target="/ppt/slides/slide17.xml" Id="Rc30f23a03593438d" /><Relationship Type="http://schemas.openxmlformats.org/officeDocument/2006/relationships/slide" Target="/ppt/slides/slide18.xml" Id="Rc315daec8d244be5" /><Relationship Type="http://schemas.openxmlformats.org/officeDocument/2006/relationships/slide" Target="/ppt/slides/slide19.xml" Id="Rb9b33432861244fb" /><Relationship Type="http://schemas.openxmlformats.org/officeDocument/2006/relationships/slide" Target="/ppt/slides/slide20.xml" Id="R97667a3c418d4ac7" /><Relationship Type="http://schemas.openxmlformats.org/officeDocument/2006/relationships/slide" Target="/ppt/slides/slide21.xml" Id="R236c48efc5c54667" /><Relationship Type="http://schemas.openxmlformats.org/officeDocument/2006/relationships/slide" Target="/ppt/slides/slide22.xml" Id="Rac97dd606b914772" /><Relationship Type="http://schemas.openxmlformats.org/officeDocument/2006/relationships/slide" Target="/ppt/slides/slide23.xml" Id="Rca1843d22d3e40c3" /><Relationship Type="http://schemas.openxmlformats.org/officeDocument/2006/relationships/slide" Target="/ppt/slides/slide24.xml" Id="R47e9bb3d10ce459b" /><Relationship Type="http://schemas.openxmlformats.org/officeDocument/2006/relationships/slide" Target="/ppt/slides/slide25.xml" Id="R906cc4fefc9d45e9" /><Relationship Type="http://schemas.openxmlformats.org/officeDocument/2006/relationships/slide" Target="/ppt/slides/slide26.xml" Id="Re67e0ed608924041" /><Relationship Type="http://schemas.openxmlformats.org/officeDocument/2006/relationships/slide" Target="/ppt/slides/slide27.xml" Id="Raffb3d5ef6984d4f" /><Relationship Type="http://schemas.openxmlformats.org/officeDocument/2006/relationships/slide" Target="/ppt/slides/slide28.xml" Id="R44f568c5ed424929" /><Relationship Type="http://schemas.openxmlformats.org/officeDocument/2006/relationships/slide" Target="/ppt/slides/slide29.xml" Id="R3e21b489af6b47bd" /><Relationship Type="http://schemas.openxmlformats.org/officeDocument/2006/relationships/slide" Target="/ppt/slides/slide30.xml" Id="R17775610036c480f" /><Relationship Type="http://schemas.openxmlformats.org/officeDocument/2006/relationships/slide" Target="/ppt/slides/slide31.xml" Id="Rc48e26d4edde41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9d7cde91718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e2bd29b0e479d" /><Relationship Type="http://schemas.openxmlformats.org/officeDocument/2006/relationships/notesMaster" Target="/ppt/notesMasters/notesMaster1.xml" Id="Rc06ee894ee8e4d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bbd9da661c417d" /><Relationship Type="http://schemas.openxmlformats.org/officeDocument/2006/relationships/notesMaster" Target="/ppt/notesMasters/notesMaster1.xml" Id="R8c3d3a71355144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3a3eaeb9404771" /><Relationship Type="http://schemas.openxmlformats.org/officeDocument/2006/relationships/notesMaster" Target="/ppt/notesMasters/notesMaster1.xml" Id="Rcabde90182e946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22ee47620e4742" /><Relationship Type="http://schemas.openxmlformats.org/officeDocument/2006/relationships/notesMaster" Target="/ppt/notesMasters/notesMaster1.xml" Id="R5f3b5e538efb47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0182d44444e55" /><Relationship Type="http://schemas.openxmlformats.org/officeDocument/2006/relationships/notesMaster" Target="/ppt/notesMasters/notesMaster1.xml" Id="Rd11f9f81b6cf48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280d6448b14357" /><Relationship Type="http://schemas.openxmlformats.org/officeDocument/2006/relationships/notesMaster" Target="/ppt/notesMasters/notesMaster1.xml" Id="R07583de6a53444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e5f0c4021b4b59" /><Relationship Type="http://schemas.openxmlformats.org/officeDocument/2006/relationships/notesMaster" Target="/ppt/notesMasters/notesMaster1.xml" Id="R188369feebbe43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3b001c3b84443b" /><Relationship Type="http://schemas.openxmlformats.org/officeDocument/2006/relationships/notesMaster" Target="/ppt/notesMasters/notesMaster1.xml" Id="Re2110316742f49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40d6d4e42943be" /><Relationship Type="http://schemas.openxmlformats.org/officeDocument/2006/relationships/notesMaster" Target="/ppt/notesMasters/notesMaster1.xml" Id="Rcba7ab20ab3240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de90b35de54262" /><Relationship Type="http://schemas.openxmlformats.org/officeDocument/2006/relationships/notesMaster" Target="/ppt/notesMasters/notesMaster1.xml" Id="Ra01a87363c704b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729aaf85ef48a5" /><Relationship Type="http://schemas.openxmlformats.org/officeDocument/2006/relationships/notesMaster" Target="/ppt/notesMasters/notesMaster1.xml" Id="R00d7c410fb4b43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4cd92d7be54f40" /><Relationship Type="http://schemas.openxmlformats.org/officeDocument/2006/relationships/notesMaster" Target="/ppt/notesMasters/notesMaster1.xml" Id="R910c7d092dbc4a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4d88783d854b36" /><Relationship Type="http://schemas.openxmlformats.org/officeDocument/2006/relationships/notesMaster" Target="/ppt/notesMasters/notesMaster1.xml" Id="R55581b7c7b3340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eaee371468c4f25" /><Relationship Type="http://schemas.openxmlformats.org/officeDocument/2006/relationships/notesMaster" Target="/ppt/notesMasters/notesMaster1.xml" Id="R4b521867997d41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224277fdfb4a8d" /><Relationship Type="http://schemas.openxmlformats.org/officeDocument/2006/relationships/notesMaster" Target="/ppt/notesMasters/notesMaster1.xml" Id="Rdab8f742a69b4f3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df42afa0ee49dc" /><Relationship Type="http://schemas.openxmlformats.org/officeDocument/2006/relationships/notesMaster" Target="/ppt/notesMasters/notesMaster1.xml" Id="Rc432b0f35eba4b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e1dc87679b6452c" /><Relationship Type="http://schemas.openxmlformats.org/officeDocument/2006/relationships/notesMaster" Target="/ppt/notesMasters/notesMaster1.xml" Id="R4bf0393827734ee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19b0bf91fe40c1" /><Relationship Type="http://schemas.openxmlformats.org/officeDocument/2006/relationships/notesMaster" Target="/ppt/notesMasters/notesMaster1.xml" Id="R0f7f101c440342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59c496c68442bc" /><Relationship Type="http://schemas.openxmlformats.org/officeDocument/2006/relationships/notesMaster" Target="/ppt/notesMasters/notesMaster1.xml" Id="R841f8a1d1d2e47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0050bad1804e5a" /><Relationship Type="http://schemas.openxmlformats.org/officeDocument/2006/relationships/notesMaster" Target="/ppt/notesMasters/notesMaster1.xml" Id="R388a124607fd4a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04ccaf91a6a4017" /><Relationship Type="http://schemas.openxmlformats.org/officeDocument/2006/relationships/notesMaster" Target="/ppt/notesMasters/notesMaster1.xml" Id="Rdc08e3c5c31e40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263111e7b9141d0" /><Relationship Type="http://schemas.openxmlformats.org/officeDocument/2006/relationships/notesMaster" Target="/ppt/notesMasters/notesMaster1.xml" Id="R475207af234b4d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dec22021ced4588" /><Relationship Type="http://schemas.openxmlformats.org/officeDocument/2006/relationships/notesMaster" Target="/ppt/notesMasters/notesMaster1.xml" Id="Raf97a6661d3e494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4c391e823e24b15" /><Relationship Type="http://schemas.openxmlformats.org/officeDocument/2006/relationships/notesMaster" Target="/ppt/notesMasters/notesMaster1.xml" Id="R85d152b058b349f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715f33fd474d6c" /><Relationship Type="http://schemas.openxmlformats.org/officeDocument/2006/relationships/notesMaster" Target="/ppt/notesMasters/notesMaster1.xml" Id="R2d0575dae7784b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3336b0baf2471b" /><Relationship Type="http://schemas.openxmlformats.org/officeDocument/2006/relationships/notesMaster" Target="/ppt/notesMasters/notesMaster1.xml" Id="R0e2426767e32498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960bbc4988a4694" /><Relationship Type="http://schemas.openxmlformats.org/officeDocument/2006/relationships/notesMaster" Target="/ppt/notesMasters/notesMaster1.xml" Id="R065d7ed5c2674b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3335e1dd16647b1" /><Relationship Type="http://schemas.openxmlformats.org/officeDocument/2006/relationships/notesMaster" Target="/ppt/notesMasters/notesMaster1.xml" Id="R05c359843e6043d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0a204f1e5e3413b" /><Relationship Type="http://schemas.openxmlformats.org/officeDocument/2006/relationships/notesMaster" Target="/ppt/notesMasters/notesMaster1.xml" Id="R428d3a63612a42a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0a6baaeeabf4bb9" /><Relationship Type="http://schemas.openxmlformats.org/officeDocument/2006/relationships/notesMaster" Target="/ppt/notesMasters/notesMaster1.xml" Id="Rad58c604eea142b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7eafa4e0d0a418b" /><Relationship Type="http://schemas.openxmlformats.org/officeDocument/2006/relationships/notesMaster" Target="/ppt/notesMasters/notesMaster1.xml" Id="R004856ddd9954a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by saying this is not just a UI demo. It is an inspection workflow MVP.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core idea is: an inspector can capture a railway defect from text or voice, attach evidence, and the system converts it into structured data that supervisors and managers can act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 message for seniors: the system is intentionally modular. The MVP works with deterministic extraction, while Whisper and Ollama are optional intelligence layers.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business problem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old way is a free-text log. Free text is useful for humans, but it is weak for filtering, prioritizing, dashboards,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project therefore creates a single flow: capture defect evidence once, convert the transcript into structured fields, and then use the structured data across supervisor and manager 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MVP is intentionally scoped but complete enough to demo end to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does not try to solve authentication, deployment, notifications, or enterprise integrations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good engineering because the riskiest workflow is validated first: can a field defect become a useful structured log with evidence and dashboards?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it clear that demo role switching is not production auth.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MVP, role switching lets the team see all user journeys without login complexity.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Production should later add real authentication, authorization, audit trails, and user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is the most important for explaining the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You can present it as a pipeline: observation -&gt; capture -&gt; storage -&gt; transcription -&gt; extraction -&gt; review -&gt; analytics.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out that data is never trapped in the UI. The backend stores the defect and exposes it back to supervisor and manager 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narrate the full working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key idea is separation of responsibilities. The browser captures inputs. The API validates and stores. Services transcribe/extract. Dashboards read structured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fast path is typed transcript plus rule extraction. The richer path adds audio transcription and optional AI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layering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 senior asks where logic belongs: routing belongs in routers, business logic belongs in services, persistence belongs in models/database, DTO validation belongs in Pydantic schemas.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makes the app easier to test and easier to replace later. For example, Whisper can be swapped for another speech provider without rewriting the whole frontend.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answers the common confusion: the extractor does not understand audio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Audio must first become text. In the current architecture, the browser records the audio, sends it to the backend, and the backend runs Whisper if enabled.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Images and audio files are stored on the backend machine in the uploads folder; the database stores only metadata and file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explain the backend as the core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FastAPI was chosen because it is quick to build, strongly typed with Pydantic, easy to document, and good for JSON APIs.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SQLAlchemy gives a clean database layer, while services keep extraction and storage logic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when asked 'where is the logic written?'.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rule-based extractor is in backend/app/services/extractor.py.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Whisper speech-to-text is in backend/app/services/speech.py.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Ollama LLM extraction is in backend/app/services/llm_extractor.py and the merge/fallback logic is in extraction_pipeline.py.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answer to 'where do I find all the APIs?'.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FastAPI also gives interactive docs if enabled by default at /docs, but the core endpoint list is shown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page in the frontend calls these APIs through frontend/lib/api.ts.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DefectLog is the main business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MediaFile does not store binary data. It stores path and metadata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standard because DB queries stay light, backups can be planned separately, and object storage can replace local uploads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key architecture talking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DB is for searchable structured data. Files are for binary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production, local uploads should move to object storage such as S3, Azure Blob, or an internal file store, but the DB schema can still store paths/URLs.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should answer why the app is not fully AI-only.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deterministic extractor is fast, stable, and testable. Whisper and Ollama add intelligence, but they are resource-heavy and can be slower.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architecture makes AI additive, not a single point of failure.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clearly: the extractor does not process audio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audio has to become text first. Then extractor.py reads that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benefit of a rule-based extractor is explainability. If a senior asks why a brake leakage became Critical, we can point to an exact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answers the confusion around optional Whisper.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Optional does not mean unused. It means the project can run without it. When ENABLE_WHISPER=true and dependencies/models are available, the backend uses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model runs on the backend machine, not inside PgAdmin and not in the browser. Audio is uploaded to the backend and processed there.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translation is part of the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extraction rules are built around English railway terms such as brake pipe, door, leakage, electrical panel, smoke, and seat cushion.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Hindi/Kannada, Whisper first transcribes/translate to English. Then the extractor runs on English text. This is why audio quality and language selection matter.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this honestly: local LLMs can be slower on normal laptops, especially without GPU acceleration.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is why the Submit flow remains fast and the UI offers Improve with AI as a separate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gives the demo both reliability and intelligence.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one of the strongest design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 production, we could move transcription and LLM extraction to background jobs. For the MVP, keeping default submit fast avoids a bad user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someone asks why English was faster than Hindi/Kannada, explain that multilingual Whisper models are larger and require more CPU.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from backend into frontend.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design uses a professional dashboard style: slate background, white cards, subtle borders, responsive layout, loading states, errors, and empty states.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UI communicates system state clearly: backend unreachable, Whisper enabled/disabled, smart extraction enabled, upload/transcription notices.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frontend is not just static pages; it is wired to the backend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DefectForm is the main Inspector component. Supervisor page manages filters, detail panel, status updates, and audio transcription.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frontend reads /health to decide whether to show Whisper and LLM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live demo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a reliable demo, use a typed transcript first. Then show audio as an enhancement.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UI now shows Voice transcript early so the user can see what Whisper heard before AI refinement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Supervisor page is where structured data becomes operational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status update is not only a UI change. The backend updates the defect and creates a StatusHistory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provides the base for future audit trails and accountability.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manager dashboard proves that structured logging is valuable.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Once defects are structured, dashboard APIs can group by component, status, severity, train, depot, time range, or assigned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 production, this can become weekly performance reporting and risk tracking.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section helps answer senior-level 'why'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present this as the final production architecture. Present it as an MVP architecture that is easy to evolve.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biggest principle is: prove the workflow first, then harden deployment, auth, queues, storage, and model serving.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When explaining this, avoid saying 'this is perfect production architecture'.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 it is a production-style MVP: modular, testable, and designed so individual parts can be upgraded.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example, local uploads can become S3; local Whisper can become a GPU service or cloud speech API; demo auth can become real auth.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if someone challenges the chosen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Yes, audio processing can be done on-device, especially in a native mobile app. But browser-based local speech-to-text with good multilingual accuracy is harder and device-dependent.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this web MVP, backend transcription is simpler to demo and centralizes model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direct explanation if asked why it became slow after adding LLM.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Whisper and Ollama both use local compute. If the laptop has limited CPU/RAM and no GPU acceleration, it will take longer.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design avoids making the whole form wait for LLM by moving smart refinement behind a separate button.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live demo, do not start with the slowest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 prove the core workflow with typed transcript. Then show audio transcription as enhancement.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 network tunnel is used, remind the team it works only while local backend/frontend/tunnel processes are running.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prevents overclaiming.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 the MVP proves the workflow. Production needs security, deployment, reliability, scale, and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architecture already has extension points for those improvements.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confidence but be accurate.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 project is demo-ready for the workflow. It is not production-hardened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most important achievement is the complete loop: capture -&gt; store -&gt; extract -&gt; review -&gt; update -&gt; analyze.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5e073b9de46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fff366b0afe4aa2" /><Relationship Type="http://schemas.openxmlformats.org/officeDocument/2006/relationships/slideLayout" Target="/ppt/slideLayouts/slideLayout2.xml" Id="Ra67db80277fa40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7db80277fa40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275a17e1ee40cf" /><Relationship Type="http://schemas.openxmlformats.org/officeDocument/2006/relationships/notesSlide" Target="/ppt/notesSlides/notesSlide1.xml" Id="Rea71e52c4b1546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ebf97b1eb4909" /><Relationship Type="http://schemas.openxmlformats.org/officeDocument/2006/relationships/notesSlide" Target="/ppt/notesSlides/notesSlide2.xml" Id="R733adf6394ff4d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4032f243404d4a" /><Relationship Type="http://schemas.openxmlformats.org/officeDocument/2006/relationships/notesSlide" Target="/ppt/notesSlides/notesSlide3.xml" Id="Ra4a7100c71c546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8356a0daf14a45" /><Relationship Type="http://schemas.openxmlformats.org/officeDocument/2006/relationships/notesSlide" Target="/ppt/notesSlides/notesSlide4.xml" Id="Ra7b0489439644d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ae6a6ec845491a" /><Relationship Type="http://schemas.openxmlformats.org/officeDocument/2006/relationships/notesSlide" Target="/ppt/notesSlides/notesSlide5.xml" Id="R27f0a57301a64f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3a1ca89dae477c" /><Relationship Type="http://schemas.openxmlformats.org/officeDocument/2006/relationships/notesSlide" Target="/ppt/notesSlides/notesSlide6.xml" Id="R6a207a48a51540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1bffbd6214036" /><Relationship Type="http://schemas.openxmlformats.org/officeDocument/2006/relationships/notesSlide" Target="/ppt/notesSlides/notesSlide7.xml" Id="R9187fb8dd0ce4a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6e11ab92694b96" /><Relationship Type="http://schemas.openxmlformats.org/officeDocument/2006/relationships/notesSlide" Target="/ppt/notesSlides/notesSlide8.xml" Id="R8a83fbe3c2f24d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8ddf603c0f49d8" /><Relationship Type="http://schemas.openxmlformats.org/officeDocument/2006/relationships/notesSlide" Target="/ppt/notesSlides/notesSlide9.xml" Id="R6fe0c306fafb42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5cfc8cdfb74328" /><Relationship Type="http://schemas.openxmlformats.org/officeDocument/2006/relationships/notesSlide" Target="/ppt/notesSlides/notesSlide10.xml" Id="Rf48b3f9d37994e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8a0de4d5fa48e7" /><Relationship Type="http://schemas.openxmlformats.org/officeDocument/2006/relationships/notesSlide" Target="/ppt/notesSlides/notesSlide11.xml" Id="Ra1795c10b11b41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eca3de6bb463c" /><Relationship Type="http://schemas.openxmlformats.org/officeDocument/2006/relationships/notesSlide" Target="/ppt/notesSlides/notesSlide12.xml" Id="R05d1d6cec95446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02567bf85f497c" /><Relationship Type="http://schemas.openxmlformats.org/officeDocument/2006/relationships/notesSlide" Target="/ppt/notesSlides/notesSlide13.xml" Id="Rf765d987c0c543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019a766244480e" /><Relationship Type="http://schemas.openxmlformats.org/officeDocument/2006/relationships/notesSlide" Target="/ppt/notesSlides/notesSlide14.xml" Id="R278caf773a0247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f216f3d2254005" /><Relationship Type="http://schemas.openxmlformats.org/officeDocument/2006/relationships/notesSlide" Target="/ppt/notesSlides/notesSlide15.xml" Id="R0554007636694a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97207ec12a49bd" /><Relationship Type="http://schemas.openxmlformats.org/officeDocument/2006/relationships/notesSlide" Target="/ppt/notesSlides/notesSlide16.xml" Id="R7d2bf8d051fd4b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0ee5e7e2a44c25" /><Relationship Type="http://schemas.openxmlformats.org/officeDocument/2006/relationships/notesSlide" Target="/ppt/notesSlides/notesSlide17.xml" Id="Rb27ee383020f45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54efcd5264baa" /><Relationship Type="http://schemas.openxmlformats.org/officeDocument/2006/relationships/notesSlide" Target="/ppt/notesSlides/notesSlide18.xml" Id="R4baaf28011234f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0eb5bf121b4a09" /><Relationship Type="http://schemas.openxmlformats.org/officeDocument/2006/relationships/notesSlide" Target="/ppt/notesSlides/notesSlide19.xml" Id="R80749577c2a44e3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508110088946ef" /><Relationship Type="http://schemas.openxmlformats.org/officeDocument/2006/relationships/notesSlide" Target="/ppt/notesSlides/notesSlide20.xml" Id="R649d224f45bd4f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b8d5112f6545f9" /><Relationship Type="http://schemas.openxmlformats.org/officeDocument/2006/relationships/notesSlide" Target="/ppt/notesSlides/notesSlide21.xml" Id="Rd7ca05bd470c4d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8b09a33fb34be8" /><Relationship Type="http://schemas.openxmlformats.org/officeDocument/2006/relationships/notesSlide" Target="/ppt/notesSlides/notesSlide22.xml" Id="Ra8ea8c5c81c1426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4d75f86e764ca5" /><Relationship Type="http://schemas.openxmlformats.org/officeDocument/2006/relationships/notesSlide" Target="/ppt/notesSlides/notesSlide23.xml" Id="R0e78512913d842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936f7fa8e944fc" /><Relationship Type="http://schemas.openxmlformats.org/officeDocument/2006/relationships/notesSlide" Target="/ppt/notesSlides/notesSlide24.xml" Id="R059abce0bc8648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4d270e7f084f67" /><Relationship Type="http://schemas.openxmlformats.org/officeDocument/2006/relationships/notesSlide" Target="/ppt/notesSlides/notesSlide25.xml" Id="R3a6c96d408884a5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92ba9c1ac14c33" /><Relationship Type="http://schemas.openxmlformats.org/officeDocument/2006/relationships/notesSlide" Target="/ppt/notesSlides/notesSlide26.xml" Id="R287927a75259417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3b2a41f5242d6" /><Relationship Type="http://schemas.openxmlformats.org/officeDocument/2006/relationships/notesSlide" Target="/ppt/notesSlides/notesSlide27.xml" Id="R0c1a3de8c6654eb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4e0c5e904b4af3" /><Relationship Type="http://schemas.openxmlformats.org/officeDocument/2006/relationships/notesSlide" Target="/ppt/notesSlides/notesSlide28.xml" Id="Rccba38aaea44476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907abdf7c1486f" /><Relationship Type="http://schemas.openxmlformats.org/officeDocument/2006/relationships/notesSlide" Target="/ppt/notesSlides/notesSlide29.xml" Id="Rcdb49498d51840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9b4542aeed483e" /><Relationship Type="http://schemas.openxmlformats.org/officeDocument/2006/relationships/notesSlide" Target="/ppt/notesSlides/notesSlide30.xml" Id="R956e5e2ed5ed4f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65d27ce28449ee" /><Relationship Type="http://schemas.openxmlformats.org/officeDocument/2006/relationships/notesSlide" Target="/ppt/notesSlides/notesSlide31.xml" Id="R6b6eec571ce24a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D09781D-023C-4DBF-AD56-DE97FDF8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7"/>
          </a:solidFill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4AD31157-DA2A-4F70-998F-29ABE4A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</p:sp>
      <p:sp>
        <p:nvSpPr>
          <p:cNvPr id="3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28DD4D3-DC0F-4EA2-9D74-2C47FFF8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</p:spPr>
      </p:sp>
      <p:sp>
        <p:nvSpPr>
          <p:cNvPr id="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E77C602-5890-4B5F-8A2C-9EDA806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11658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PROJECT DEEP DIVE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69B7D4B-27A3-4BAC-89A3-DEB711AE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9334500" cy="3295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Smart</a:t>
            </a:r>
          </a:p>
          <a:p xmlns:a="http://schemas.openxmlformats.org/drawingml/2006/main">
            <a:pPr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Maintenance</a:t>
            </a:r>
          </a:p>
          <a:p xmlns:a="http://schemas.openxmlformats.org/drawingml/2006/main">
            <a:pPr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Logbook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A56800E-E28C-4E21-8E0B-C6FF646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19850"/>
            <a:ext cx="1066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BD5E1"/>
                </a:solidFill>
              </a:defRPr>
            </a:pPr>
            <a:r>
              <a:rPr sz="2250">
                <a:solidFill>
                  <a:srgbClr val="CBD5E1"/>
                </a:solidFill>
              </a:rPr>
              <a:t>A railway inspection MVP that turns field transcripts, audio, and image evidence into structured defect logs and dashboard intelligence.</a:t>
            </a:r>
          </a:p>
        </p:txBody>
      </p:sp>
      <p:sp>
        <p:nvSpPr>
          <p:cNvPr id="7" name="chip">
            <a:extLst xmlns:a="http://schemas.openxmlformats.org/drawingml/2006/main">
              <a:ext uri="{FF2B5EF4-FFF2-40B4-BE49-F238E27FC236}">
                <a16:creationId xmlns:a16="http://schemas.microsoft.com/office/drawing/2014/main" id="{9510D09A-583C-41C6-8444-BD423016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21880"/>
            <a:ext cx="1503521" cy="582930"/>
          </a:xfrm>
          <a:prstGeom xmlns:a="http://schemas.openxmlformats.org/drawingml/2006/main" prst="roundRect">
            <a:avLst>
              <a:gd name="adj" fmla="val 39216"/>
            </a:avLst>
          </a:prstGeom>
          <a:solidFill xmlns:a="http://schemas.openxmlformats.org/drawingml/2006/main">
            <a:srgbClr val="059669">
              <a:alpha val="9412"/>
            </a:srgbClr>
          </a:solidFill>
        </p:spPr>
      </p:sp>
      <p:sp>
        <p:nvSpPr>
          <p:cNvPr id="8" name="chip-label">
            <a:extLst xmlns:a="http://schemas.openxmlformats.org/drawingml/2006/main">
              <a:ext uri="{FF2B5EF4-FFF2-40B4-BE49-F238E27FC236}">
                <a16:creationId xmlns:a16="http://schemas.microsoft.com/office/drawing/2014/main" id="{98211FC6-3E41-4831-9298-BF0D9E18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05700"/>
            <a:ext cx="116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FastAPI backend</a:t>
            </a:r>
          </a:p>
        </p:txBody>
      </p:sp>
      <p:sp>
        <p:nvSpPr>
          <p:cNvPr id="9" name="chip">
            <a:extLst xmlns:a="http://schemas.openxmlformats.org/drawingml/2006/main">
              <a:ext uri="{FF2B5EF4-FFF2-40B4-BE49-F238E27FC236}">
                <a16:creationId xmlns:a16="http://schemas.microsoft.com/office/drawing/2014/main" id="{0EC5A89B-4FFD-44F5-9601-E65095CE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671" y="7421880"/>
            <a:ext cx="1497806" cy="582930"/>
          </a:xfrm>
          <a:prstGeom xmlns:a="http://schemas.openxmlformats.org/drawingml/2006/main" prst="roundRect">
            <a:avLst>
              <a:gd name="adj" fmla="val 39216"/>
            </a:avLst>
          </a:prstGeom>
          <a:solidFill xmlns:a="http://schemas.openxmlformats.org/drawingml/2006/main">
            <a:srgbClr val="0891B2">
              <a:alpha val="9412"/>
            </a:srgbClr>
          </a:solidFill>
        </p:spPr>
      </p:sp>
      <p:sp>
        <p:nvSpPr>
          <p:cNvPr id="10" name="chip-label">
            <a:extLst xmlns:a="http://schemas.openxmlformats.org/drawingml/2006/main">
              <a:ext uri="{FF2B5EF4-FFF2-40B4-BE49-F238E27FC236}">
                <a16:creationId xmlns:a16="http://schemas.microsoft.com/office/drawing/2014/main" id="{E88AB351-A8C3-4A55-9182-284CD52B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7505700"/>
            <a:ext cx="1162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Next.js frontend</a:t>
            </a:r>
          </a:p>
        </p:txBody>
      </p:sp>
      <p:sp>
        <p:nvSpPr>
          <p:cNvPr id="11" name="chip">
            <a:extLst xmlns:a="http://schemas.openxmlformats.org/drawingml/2006/main">
              <a:ext uri="{FF2B5EF4-FFF2-40B4-BE49-F238E27FC236}">
                <a16:creationId xmlns:a16="http://schemas.microsoft.com/office/drawing/2014/main" id="{FA43CA80-DDE8-493D-AC32-9E216875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827" y="7421880"/>
            <a:ext cx="2197417" cy="582930"/>
          </a:xfrm>
          <a:prstGeom xmlns:a="http://schemas.openxmlformats.org/drawingml/2006/main" prst="roundRect">
            <a:avLst>
              <a:gd name="adj" fmla="val 39216"/>
            </a:avLst>
          </a:prstGeom>
          <a:solidFill xmlns:a="http://schemas.openxmlformats.org/drawingml/2006/main">
            <a:srgbClr val="D97706">
              <a:alpha val="9412"/>
            </a:srgbClr>
          </a:solidFill>
        </p:spPr>
      </p:sp>
      <p:sp>
        <p:nvSpPr>
          <p:cNvPr id="12" name="chip-label">
            <a:extLst xmlns:a="http://schemas.openxmlformats.org/drawingml/2006/main">
              <a:ext uri="{FF2B5EF4-FFF2-40B4-BE49-F238E27FC236}">
                <a16:creationId xmlns:a16="http://schemas.microsoft.com/office/drawing/2014/main" id="{1751211E-61B5-4947-86EC-F10EAE1C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7505700"/>
            <a:ext cx="1847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PostgreSQL / SQLite ready</a:t>
            </a:r>
          </a:p>
        </p:txBody>
      </p:sp>
      <p:sp>
        <p:nvSpPr>
          <p:cNvPr id="13" name="chip">
            <a:extLst xmlns:a="http://schemas.openxmlformats.org/drawingml/2006/main">
              <a:ext uri="{FF2B5EF4-FFF2-40B4-BE49-F238E27FC236}">
                <a16:creationId xmlns:a16="http://schemas.microsoft.com/office/drawing/2014/main" id="{372ED497-7B7F-41F6-BAC3-7913DDC6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595" y="7421880"/>
            <a:ext cx="2245519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9412"/>
            </a:srgbClr>
          </a:solidFill>
        </p:spPr>
      </p:sp>
      <p:sp>
        <p:nvSpPr>
          <p:cNvPr id="14" name="chip-label">
            <a:extLst xmlns:a="http://schemas.openxmlformats.org/drawingml/2006/main">
              <a:ext uri="{FF2B5EF4-FFF2-40B4-BE49-F238E27FC236}">
                <a16:creationId xmlns:a16="http://schemas.microsoft.com/office/drawing/2014/main" id="{CF7D2B17-DF52-4263-8896-FE3D72A3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50570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Whisper + Ollama optional</a:t>
            </a:r>
          </a:p>
        </p:txBody>
      </p:sp>
      <p:sp>
        <p:nvSpPr>
          <p:cNvPr id="1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C41B264-773F-45D9-B809-05371B12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800350"/>
            <a:ext cx="4000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891B2"/>
                </a:solidFill>
              </a:defRPr>
            </a:pPr>
            <a:r>
              <a:rPr sz="4650" b="1">
                <a:solidFill>
                  <a:srgbClr val="0891B2"/>
                </a:solidFill>
              </a:rPr>
              <a:t>8101</a:t>
            </a:r>
          </a:p>
        </p:txBody>
      </p:sp>
      <p:sp>
        <p:nvSpPr>
          <p:cNvPr id="1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8328728-EE7F-465C-B818-F0EFA049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35814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Local backend</a:t>
            </a:r>
          </a:p>
        </p:txBody>
      </p:sp>
      <p:sp>
        <p:nvSpPr>
          <p:cNvPr id="17" name="metric-helper">
            <a:extLst xmlns:a="http://schemas.openxmlformats.org/drawingml/2006/main">
              <a:ext uri="{FF2B5EF4-FFF2-40B4-BE49-F238E27FC236}">
                <a16:creationId xmlns:a16="http://schemas.microsoft.com/office/drawing/2014/main" id="{1FA455B1-7C03-4672-8BDE-AF877390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39433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FastAPI API endpoint</a:t>
            </a:r>
          </a:p>
        </p:txBody>
      </p:sp>
      <p:sp>
        <p:nvSpPr>
          <p:cNvPr id="1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8C9AA54-AC40-4713-9458-BAB9E95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4457700"/>
            <a:ext cx="4000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59669"/>
                </a:solidFill>
              </a:defRPr>
            </a:pPr>
            <a:r>
              <a:rPr sz="4650" b="1">
                <a:solidFill>
                  <a:srgbClr val="059669"/>
                </a:solidFill>
              </a:rPr>
              <a:t>3101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E31ED89-618F-433B-9335-3F80EFAA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2578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Local frontend</a:t>
            </a:r>
          </a:p>
        </p:txBody>
      </p:sp>
      <p:sp>
        <p:nvSpPr>
          <p:cNvPr id="20" name="metric-helper">
            <a:extLst xmlns:a="http://schemas.openxmlformats.org/drawingml/2006/main">
              <a:ext uri="{FF2B5EF4-FFF2-40B4-BE49-F238E27FC236}">
                <a16:creationId xmlns:a16="http://schemas.microsoft.com/office/drawing/2014/main" id="{BE265FC4-DA0D-4CCC-942D-D410888C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60070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Next.js dashboard UI</a:t>
            </a:r>
          </a:p>
        </p:txBody>
      </p:sp>
      <p:sp>
        <p:nvSpPr>
          <p:cNvPr id="2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373C8CC-477D-4519-82B8-E3E937F0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6134100"/>
            <a:ext cx="4000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D97706"/>
                </a:solidFill>
              </a:defRPr>
            </a:pPr>
            <a:r>
              <a:rPr sz="4650" b="1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6210D98-587E-4BEE-A6BC-DC8BC55D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691515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Demo roles</a:t>
            </a:r>
          </a:p>
        </p:txBody>
      </p:sp>
      <p:sp>
        <p:nvSpPr>
          <p:cNvPr id="23" name="metric-helper">
            <a:extLst xmlns:a="http://schemas.openxmlformats.org/drawingml/2006/main">
              <a:ext uri="{FF2B5EF4-FFF2-40B4-BE49-F238E27FC236}">
                <a16:creationId xmlns:a16="http://schemas.microsoft.com/office/drawing/2014/main" id="{3EE85654-47BF-4143-AD68-9AE98515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7258050"/>
            <a:ext cx="4000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Inspector, Supervisor, Manager</a:t>
            </a:r>
          </a:p>
        </p:txBody>
      </p:sp>
    </p:spTree>
    <p:extLst>
      <p:ext uri="{BB962C8B-B14F-4D97-AF65-F5344CB8AC3E}">
        <p14:creationId xmlns:p14="http://schemas.microsoft.com/office/powerpoint/2010/main" val="14897704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2554F30-9EA2-4E59-85A8-12CE30EE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6E4474C-84D0-4E8B-8D82-5DBB1300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WHY THIS PROJECT EXISTS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C12F00-79AC-4706-A649-1F2F077A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1620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Manual inspection logs are hard to act on quickly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E2372E1-2262-4847-A6C9-EBE26E5D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9982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MVP focuses on reducing reporting friction while preserving evidence and operational visibility.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06126346-E2D6-454F-864A-B3B665D2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7420"/>
            <a:ext cx="8201025" cy="3434715"/>
          </a:xfrm>
          <a:prstGeom xmlns:a="http://schemas.openxmlformats.org/drawingml/2006/main" prst="roundRect">
            <a:avLst>
              <a:gd name="adj" fmla="val 49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E8DFC4A-2717-49F3-9382-56EC9F4A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5FD6FAC0-EF11-413D-8299-C7C5F948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384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Field reporting is messy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7CE3C074-6F70-4D83-A9A3-B93B526E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Inspectors may speak in Hindi, Kannada, English, or mixed phrases. The system needs to accept typed text, recorded audio, and uploaded audio.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99BF16FF-BF7B-4743-8568-1AB1AEFC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17420"/>
            <a:ext cx="8201025" cy="3434715"/>
          </a:xfrm>
          <a:prstGeom xmlns:a="http://schemas.openxmlformats.org/drawingml/2006/main" prst="roundRect">
            <a:avLst>
              <a:gd name="adj" fmla="val 49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337339EE-1E5D-438F-83D0-4C49B2F2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384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7CFA3E08-125E-4D21-9B7C-B4F260B5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384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Evidence is separated from the log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9AF15911-E37D-421E-8DB8-21148F00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Images and audio clips are valuable, but they are usually stored away from the defect entry. This project keeps media linked to the defect record.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74D3D670-FC83-4FE7-996B-872210A6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0735"/>
            <a:ext cx="8201025" cy="3434715"/>
          </a:xfrm>
          <a:prstGeom xmlns:a="http://schemas.openxmlformats.org/drawingml/2006/main" prst="roundRect">
            <a:avLst>
              <a:gd name="adj" fmla="val 49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2EEC05C-0A62-4429-98FF-382D759D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96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80B95D4A-C1B4-4751-8155-D60EBC5B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150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Supervisors need structured fields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6A7CD8CA-5D0E-424A-9C7D-DD1C3CE8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3415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A sentence like 'B2 brake pipe leakage' must become coach, component, defect type, severity, description, and status.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363768C8-258B-4AA2-8041-0349F3C5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880735"/>
            <a:ext cx="8201025" cy="3434715"/>
          </a:xfrm>
          <a:prstGeom xmlns:a="http://schemas.openxmlformats.org/drawingml/2006/main" prst="roundRect">
            <a:avLst>
              <a:gd name="adj" fmla="val 499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37B7964-C7E5-4BC4-B0D8-85D86507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096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187F23A0-DD5A-4B63-93D0-14967FFE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1150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Managers need summary intelligence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CBE9BE86-0E08-470D-8D2D-CAD767FC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53415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The same defect stream should feed dashboards: open defects, critical defects, status distribution, component concentration, and recent risk.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1407623-F75C-4D05-A688-335B1C79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C238335-6C7F-4794-81F2-EB5BD1DD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47580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CCAC848-40A1-4DA1-988A-FA7C6610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082EE3E-C0A9-4973-9059-E293FD45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MVP SCOPE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BB1906-C074-4EF3-A8C6-3C1FA43A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32016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system is a working inspection workflow, not only a form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A779E4-C115-4CF7-B7F9-8DD9C3BC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It has capture, extraction, evidence storage, review, status tracking, and analytics in one local demo.</a:t>
            </a:r>
          </a:p>
        </p:txBody>
      </p:sp>
      <p:sp>
        <p:nvSpPr>
          <p:cNvPr id="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CE7A1E2C-8B79-444E-8F11-0E201F18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4762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563EB"/>
                </a:solidFill>
              </a:defRPr>
            </a:pPr>
            <a:r>
              <a:rPr sz="4650" b="1">
                <a:solidFill>
                  <a:srgbClr val="2563EB"/>
                </a:solidFill>
              </a:rPr>
              <a:t>FastAPI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160E8FD-DE8E-4970-A295-C9A0D9FE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Backend API</a:t>
            </a:r>
          </a:p>
        </p:txBody>
      </p:sp>
      <p:sp>
        <p:nvSpPr>
          <p:cNvPr id="7" name="metric-helper">
            <a:extLst xmlns:a="http://schemas.openxmlformats.org/drawingml/2006/main">
              <a:ext uri="{FF2B5EF4-FFF2-40B4-BE49-F238E27FC236}">
                <a16:creationId xmlns:a16="http://schemas.microsoft.com/office/drawing/2014/main" id="{296B2961-2ED1-4B68-B787-8B321549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Routers, schemas, models, services</a:t>
            </a:r>
          </a:p>
        </p:txBody>
      </p:sp>
      <p:sp>
        <p:nvSpPr>
          <p:cNvPr id="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3F23380-2836-4D90-BF2B-D3BF74A5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762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891B2"/>
                </a:solidFill>
              </a:defRPr>
            </a:pPr>
            <a:r>
              <a:rPr sz="4650" b="1">
                <a:solidFill>
                  <a:srgbClr val="0891B2"/>
                </a:solidFill>
              </a:rPr>
              <a:t>Next.js</a:t>
            </a:r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3202E2E5-BA01-4E48-9CC6-F73AE6FD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Frontend UI</a:t>
            </a:r>
          </a:p>
        </p:txBody>
      </p:sp>
      <p:sp>
        <p:nvSpPr>
          <p:cNvPr id="10" name="metric-helper">
            <a:extLst xmlns:a="http://schemas.openxmlformats.org/drawingml/2006/main">
              <a:ext uri="{FF2B5EF4-FFF2-40B4-BE49-F238E27FC236}">
                <a16:creationId xmlns:a16="http://schemas.microsoft.com/office/drawing/2014/main" id="{373DEE99-93E1-4214-BF5F-0A1A4363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TypeScript dashboard experience</a:t>
            </a:r>
          </a:p>
        </p:txBody>
      </p:sp>
      <p:sp>
        <p:nvSpPr>
          <p:cNvPr id="11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FD977F4-9D09-44D1-8724-79B3F3F6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4762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59669"/>
                </a:solidFill>
              </a:defRPr>
            </a:pPr>
            <a:r>
              <a:rPr sz="4650" b="1">
                <a:solidFill>
                  <a:srgbClr val="059669"/>
                </a:solidFill>
              </a:rPr>
              <a:t>DB + files</a:t>
            </a:r>
          </a:p>
        </p:txBody>
      </p:sp>
      <p:sp>
        <p:nvSpPr>
          <p:cNvPr id="1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AC661FB-4636-4631-858A-61B946A1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961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Storage</a:t>
            </a:r>
          </a:p>
        </p:txBody>
      </p:sp>
      <p:sp>
        <p:nvSpPr>
          <p:cNvPr id="13" name="metric-helper">
            <a:extLst xmlns:a="http://schemas.openxmlformats.org/drawingml/2006/main">
              <a:ext uri="{FF2B5EF4-FFF2-40B4-BE49-F238E27FC236}">
                <a16:creationId xmlns:a16="http://schemas.microsoft.com/office/drawing/2014/main" id="{BF6C4C43-17D4-487A-BD68-0B2E4568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580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Metadata in DB, media on disk</a:t>
            </a:r>
          </a:p>
        </p:txBody>
      </p:sp>
      <p:sp>
        <p:nvSpPr>
          <p:cNvPr id="14" name="mvp-summary-panel">
            <a:extLst xmlns:a="http://schemas.openxmlformats.org/drawingml/2006/main">
              <a:ext uri="{FF2B5EF4-FFF2-40B4-BE49-F238E27FC236}">
                <a16:creationId xmlns:a16="http://schemas.microsoft.com/office/drawing/2014/main" id="{C1B96C43-AFEE-482B-B46C-A07B970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03220"/>
            <a:ext cx="11658600" cy="6412230"/>
          </a:xfrm>
          <a:prstGeom xmlns:a="http://schemas.openxmlformats.org/drawingml/2006/main" prst="roundRect">
            <a:avLst>
              <a:gd name="adj" fmla="val 267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9DBA0A4A-3438-4CD0-BD94-9F49C2D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6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7FCE2DB0-451C-4876-B1DD-4800CCCA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1062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Inspector</a:t>
            </a:r>
          </a:p>
        </p:txBody>
      </p:sp>
      <p:sp>
        <p:nvSpPr>
          <p:cNvPr id="17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2A307F5-6003-4D99-BDE0-A29488E9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10629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Creates a defect from transcript or audio and attaches image/audio evidence.</a:t>
            </a:r>
          </a:p>
        </p:txBody>
      </p:sp>
      <p:sp>
        <p:nvSpPr>
          <p:cNvPr id="18" name="bullet-dot">
            <a:extLst xmlns:a="http://schemas.openxmlformats.org/drawingml/2006/main">
              <a:ext uri="{FF2B5EF4-FFF2-40B4-BE49-F238E27FC236}">
                <a16:creationId xmlns:a16="http://schemas.microsoft.com/office/drawing/2014/main" id="{ED18011B-E20E-46F8-A056-54B1D272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9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2022165D-073C-4C12-95D3-0E2ABA4B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062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Supervisor</a:t>
            </a:r>
          </a:p>
        </p:txBody>
      </p:sp>
      <p:sp>
        <p:nvSpPr>
          <p:cNvPr id="20" name="bullet-body">
            <a:extLst xmlns:a="http://schemas.openxmlformats.org/drawingml/2006/main">
              <a:ext uri="{FF2B5EF4-FFF2-40B4-BE49-F238E27FC236}">
                <a16:creationId xmlns:a16="http://schemas.microsoft.com/office/drawing/2014/main" id="{6A2EE3BD-CA5D-4D72-AC9B-660B0B6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10629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Filters defects, reviews transcript and media, and updates status with remarks.</a:t>
            </a:r>
          </a:p>
        </p:txBody>
      </p:sp>
      <p:sp>
        <p:nvSpPr>
          <p:cNvPr id="21" name="bullet-dot">
            <a:extLst xmlns:a="http://schemas.openxmlformats.org/drawingml/2006/main">
              <a:ext uri="{FF2B5EF4-FFF2-40B4-BE49-F238E27FC236}">
                <a16:creationId xmlns:a16="http://schemas.microsoft.com/office/drawing/2014/main" id="{525B700D-533E-46EE-B374-BE05E7AE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22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51579501-2C79-4604-931E-E6070AA0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1062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Manager</a:t>
            </a:r>
          </a:p>
        </p:txBody>
      </p:sp>
      <p:sp>
        <p:nvSpPr>
          <p:cNvPr id="23" name="bullet-body">
            <a:extLst xmlns:a="http://schemas.openxmlformats.org/drawingml/2006/main">
              <a:ext uri="{FF2B5EF4-FFF2-40B4-BE49-F238E27FC236}">
                <a16:creationId xmlns:a16="http://schemas.microsoft.com/office/drawing/2014/main" id="{C5CC2BC4-6CA6-443A-A426-C7DEC33E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62550"/>
            <a:ext cx="10629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Sees total/open/in-progress/resolved/critical counts and component/status analytics.</a:t>
            </a:r>
          </a:p>
        </p:txBody>
      </p:sp>
      <p:sp>
        <p:nvSpPr>
          <p:cNvPr id="24" name="bullet-dot">
            <a:extLst xmlns:a="http://schemas.openxmlformats.org/drawingml/2006/main">
              <a:ext uri="{FF2B5EF4-FFF2-40B4-BE49-F238E27FC236}">
                <a16:creationId xmlns:a16="http://schemas.microsoft.com/office/drawing/2014/main" id="{25089985-9912-4CEA-B496-00A1CCD0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25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0BC1B304-552A-4773-9E73-D7A45805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38800"/>
            <a:ext cx="1062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Intelligence layers</a:t>
            </a:r>
          </a:p>
        </p:txBody>
      </p:sp>
      <p:sp>
        <p:nvSpPr>
          <p:cNvPr id="26" name="bullet-body">
            <a:extLst xmlns:a="http://schemas.openxmlformats.org/drawingml/2006/main">
              <a:ext uri="{FF2B5EF4-FFF2-40B4-BE49-F238E27FC236}">
                <a16:creationId xmlns:a16="http://schemas.microsoft.com/office/drawing/2014/main" id="{4B16EB4A-FC84-4AC2-BBDA-A1BEDC9E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962650"/>
            <a:ext cx="10629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Rule-based extraction is fast and deterministic; Whisper and Ollama are optional for speech and smarter extraction.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F98DCBF-6350-4E2D-9274-E73BD74C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10AE016-6193-493B-86F5-9D7BEBE6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50913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BA0B0FF-739E-4DF8-94A4-73732C21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70394C8-B32C-4C3D-B466-EFE8DDF9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USERS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F2BA9E-C77D-4481-B470-856BD02A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25539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Three demo roles represent the railway maintenance workflow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8C28C54-42AB-4717-A11B-4B4220DA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1258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frontend role switcher changes the working perspective without adding complex authentication to the MVP.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D50A54B1-7D3D-4777-A896-DD9BC227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3220"/>
            <a:ext cx="5384800" cy="6412230"/>
          </a:xfrm>
          <a:prstGeom xmlns:a="http://schemas.openxmlformats.org/drawingml/2006/main" prst="roundRect">
            <a:avLst>
              <a:gd name="adj" fmla="val 318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C3E5AE4-09A6-4F57-9EA6-8B3A8D24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11BDF6BC-39B8-4686-9B9B-2A18C390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Inspector: Ramesh Kumar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09D98B96-4A35-4ABA-A08D-DEEC5EB5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Logs defects from the field. Enters train, coach, location, transcript, audio, and image evidence.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33003899-9FB8-4861-8D8E-4A9592DA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903220"/>
            <a:ext cx="5384800" cy="6412230"/>
          </a:xfrm>
          <a:prstGeom xmlns:a="http://schemas.openxmlformats.org/drawingml/2006/main" prst="roundRect">
            <a:avLst>
              <a:gd name="adj" fmla="val 318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B6DC7F4-5F7C-4CF8-8DA4-0BF7F595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CA1D7F40-5463-445A-A6A2-2C235620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242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Supervisor: Suresh Patil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8D5A7A68-D67E-4BEA-8F80-4D62ECD7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433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Reviews incoming defects, checks media, filters by severity/status/component, and updates progress.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59EF0EC2-79B1-43AC-8DF0-5F47FD1D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903220"/>
            <a:ext cx="5384800" cy="6412230"/>
          </a:xfrm>
          <a:prstGeom xmlns:a="http://schemas.openxmlformats.org/drawingml/2006/main" prst="roundRect">
            <a:avLst>
              <a:gd name="adj" fmla="val 318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10A6090-758D-4BED-BEB5-D2688CD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67210A9B-5757-46E9-B990-A437798F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1242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Manager: Anita Rao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61F23229-5008-4C3C-95BB-384E6AEB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433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Uses analytics to understand workload, critical defects, component trends, and operational status.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C196FAE-7AF6-448E-A3CE-C8CBE02A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A3D805-257A-4588-B2C9-F2ACB56E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56729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D9BE952-ED63-4A68-9FDD-B263F29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2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C4419C92-6016-4BB5-861A-204BA9B8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>
              <a:alpha val="20000"/>
            </a:srgbClr>
          </a:solidFill>
        </p:spPr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427E0A3-613E-44AC-B66C-DCEE10D1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1630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END-TO-END FLOW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5F7640-5C99-452D-B964-D7C87B7C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132397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From field observation to dashboard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0F0603-CD87-4CA2-B9E5-FF451494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103251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BD5E1"/>
                </a:solidFill>
              </a:defRPr>
            </a:pPr>
            <a:r>
              <a:rPr sz="2250">
                <a:solidFill>
                  <a:srgbClr val="CBD5E1"/>
                </a:solidFill>
              </a:rPr>
              <a:t>Every screen and API exists to move one defect through capture, enrichment, review, and reporting.</a:t>
            </a:r>
          </a:p>
        </p:txBody>
      </p:sp>
      <p:sp>
        <p:nvSpPr>
          <p:cNvPr id="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BCDF673C-48E7-4CA0-835C-8EBC5A41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32173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2370CF0-9A5A-49A9-8EF4-B9ED4CA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362201F-CC31-4FD2-8D63-B5F323FC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SYSTEM 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FB3D5A-89A8-4D54-8E69-ED84FCCB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0058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A defect moves through seven clear stages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987EF26-C1D0-4E34-A544-9E627298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880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design keeps the normal path fast and makes heavier intelligence features optional.</a:t>
            </a:r>
          </a:p>
        </p:txBody>
      </p:sp>
      <p:sp>
        <p:nvSpPr>
          <p:cNvPr id="5" name="flow-step">
            <a:extLst xmlns:a="http://schemas.openxmlformats.org/drawingml/2006/main">
              <a:ext uri="{FF2B5EF4-FFF2-40B4-BE49-F238E27FC236}">
                <a16:creationId xmlns:a16="http://schemas.microsoft.com/office/drawing/2014/main" id="{FD17A382-6499-490A-9363-91EE178A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17420"/>
            <a:ext cx="5067300" cy="1061085"/>
          </a:xfrm>
          <a:prstGeom xmlns:a="http://schemas.openxmlformats.org/drawingml/2006/main" prst="roundRect">
            <a:avLst>
              <a:gd name="adj" fmla="val 1436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hip">
            <a:extLst xmlns:a="http://schemas.openxmlformats.org/drawingml/2006/main">
              <a:ext uri="{FF2B5EF4-FFF2-40B4-BE49-F238E27FC236}">
                <a16:creationId xmlns:a16="http://schemas.microsoft.com/office/drawing/2014/main" id="{6DE9B0BD-EE37-4A6F-B7CD-C1D57D1A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7920"/>
            <a:ext cx="46482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>
              <a:alpha val="9412"/>
            </a:srgbClr>
          </a:solidFill>
        </p:spPr>
      </p:sp>
      <p:sp>
        <p:nvSpPr>
          <p:cNvPr id="7" name="chip-label">
            <a:extLst xmlns:a="http://schemas.openxmlformats.org/drawingml/2006/main">
              <a:ext uri="{FF2B5EF4-FFF2-40B4-BE49-F238E27FC236}">
                <a16:creationId xmlns:a16="http://schemas.microsoft.com/office/drawing/2014/main" id="{9C116062-9CB9-4393-9948-7C3B2F98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430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1 Capture</a:t>
            </a:r>
          </a:p>
        </p:txBody>
      </p:sp>
      <p:sp>
        <p:nvSpPr>
          <p:cNvPr id="8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48CEE214-0E3D-4E1B-8932-8C2A5F42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64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Inspector enters train, coach, location, text/audio/image.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C881EBC9-03B3-4815-B10A-1CE39FFC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10" name="flow-step">
            <a:extLst xmlns:a="http://schemas.openxmlformats.org/drawingml/2006/main">
              <a:ext uri="{FF2B5EF4-FFF2-40B4-BE49-F238E27FC236}">
                <a16:creationId xmlns:a16="http://schemas.microsoft.com/office/drawing/2014/main" id="{FBA2CD8F-2404-42CE-980E-CA65022F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17420"/>
            <a:ext cx="5067300" cy="1061085"/>
          </a:xfrm>
          <a:prstGeom xmlns:a="http://schemas.openxmlformats.org/drawingml/2006/main" prst="roundRect">
            <a:avLst>
              <a:gd name="adj" fmla="val 1436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chip">
            <a:extLst xmlns:a="http://schemas.openxmlformats.org/drawingml/2006/main">
              <a:ext uri="{FF2B5EF4-FFF2-40B4-BE49-F238E27FC236}">
                <a16:creationId xmlns:a16="http://schemas.microsoft.com/office/drawing/2014/main" id="{1FA2F0F3-8AC4-45D8-AF65-74920D18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7920"/>
            <a:ext cx="46482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9412"/>
            </a:srgbClr>
          </a:solidFill>
        </p:spPr>
      </p:sp>
      <p:sp>
        <p:nvSpPr>
          <p:cNvPr id="12" name="chip-label">
            <a:extLst xmlns:a="http://schemas.openxmlformats.org/drawingml/2006/main">
              <a:ext uri="{FF2B5EF4-FFF2-40B4-BE49-F238E27FC236}">
                <a16:creationId xmlns:a16="http://schemas.microsoft.com/office/drawing/2014/main" id="{E56BA6A3-E585-4F62-831B-4E0D25CB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430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2 Create</a:t>
            </a:r>
          </a:p>
        </p:txBody>
      </p:sp>
      <p:sp>
        <p:nvSpPr>
          <p:cNvPr id="13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976E2670-778B-4A09-8139-7CC10A4B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464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Backend creates a defect code and initial Open status.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0E98E7B7-BE4B-48D2-B54F-6D0A46B6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098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15" name="flow-step">
            <a:extLst xmlns:a="http://schemas.openxmlformats.org/drawingml/2006/main">
              <a:ext uri="{FF2B5EF4-FFF2-40B4-BE49-F238E27FC236}">
                <a16:creationId xmlns:a16="http://schemas.microsoft.com/office/drawing/2014/main" id="{6881E8A3-F37A-41BB-809E-EC9D871B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217420"/>
            <a:ext cx="5067300" cy="1061085"/>
          </a:xfrm>
          <a:prstGeom xmlns:a="http://schemas.openxmlformats.org/drawingml/2006/main" prst="roundRect">
            <a:avLst>
              <a:gd name="adj" fmla="val 1436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chip">
            <a:extLst xmlns:a="http://schemas.openxmlformats.org/drawingml/2006/main">
              <a:ext uri="{FF2B5EF4-FFF2-40B4-BE49-F238E27FC236}">
                <a16:creationId xmlns:a16="http://schemas.microsoft.com/office/drawing/2014/main" id="{7AEF2165-BD5E-48C5-84DE-EAD7A7AB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407920"/>
            <a:ext cx="46482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>
              <a:alpha val="9412"/>
            </a:srgbClr>
          </a:solidFill>
        </p:spPr>
      </p:sp>
      <p:sp>
        <p:nvSpPr>
          <p:cNvPr id="17" name="chip-label">
            <a:extLst xmlns:a="http://schemas.openxmlformats.org/drawingml/2006/main">
              <a:ext uri="{FF2B5EF4-FFF2-40B4-BE49-F238E27FC236}">
                <a16:creationId xmlns:a16="http://schemas.microsoft.com/office/drawing/2014/main" id="{89838D41-7F38-4E6A-9EC6-F90F8853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2495550"/>
            <a:ext cx="430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3 Store</a:t>
            </a:r>
          </a:p>
        </p:txBody>
      </p:sp>
      <p:sp>
        <p:nvSpPr>
          <p:cNvPr id="18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A8408AD8-DCBC-4037-A6EE-BB1E49CB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876550"/>
            <a:ext cx="464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Defect metadata goes to DB; media files go to uploads.</a:t>
            </a:r>
          </a:p>
        </p:txBody>
      </p:sp>
      <p:sp>
        <p:nvSpPr>
          <p:cNvPr id="19" name="flow-step">
            <a:extLst xmlns:a="http://schemas.openxmlformats.org/drawingml/2006/main">
              <a:ext uri="{FF2B5EF4-FFF2-40B4-BE49-F238E27FC236}">
                <a16:creationId xmlns:a16="http://schemas.microsoft.com/office/drawing/2014/main" id="{69734F69-A81A-4D05-B30D-CCA3BB01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2355"/>
            <a:ext cx="3614738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chip">
            <a:extLst xmlns:a="http://schemas.openxmlformats.org/drawingml/2006/main">
              <a:ext uri="{FF2B5EF4-FFF2-40B4-BE49-F238E27FC236}">
                <a16:creationId xmlns:a16="http://schemas.microsoft.com/office/drawing/2014/main" id="{23E6ED02-849D-431A-AA88-010E0FA8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2855"/>
            <a:ext cx="3195638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9412"/>
            </a:srgbClr>
          </a:solidFill>
        </p:spPr>
      </p:sp>
      <p:sp>
        <p:nvSpPr>
          <p:cNvPr id="21" name="chip-label">
            <a:extLst xmlns:a="http://schemas.openxmlformats.org/drawingml/2006/main">
              <a:ext uri="{FF2B5EF4-FFF2-40B4-BE49-F238E27FC236}">
                <a16:creationId xmlns:a16="http://schemas.microsoft.com/office/drawing/2014/main" id="{B6702A8D-BD5C-4972-B843-DE4E5D55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4 Transcribe</a:t>
            </a:r>
          </a:p>
        </p:txBody>
      </p:sp>
      <p:sp>
        <p:nvSpPr>
          <p:cNvPr id="22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30669D89-6B08-49AD-AB61-6CF89232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3200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Optional Whisper converts recorded audio to text.</a:t>
            </a:r>
          </a:p>
        </p:txBody>
      </p:sp>
      <p:sp>
        <p:nvSpPr>
          <p:cNvPr id="23" name="flow-arrow">
            <a:extLst xmlns:a="http://schemas.openxmlformats.org/drawingml/2006/main">
              <a:ext uri="{FF2B5EF4-FFF2-40B4-BE49-F238E27FC236}">
                <a16:creationId xmlns:a16="http://schemas.microsoft.com/office/drawing/2014/main" id="{28D0872B-7B75-4155-B1CB-682EFBE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24" name="flow-step">
            <a:extLst xmlns:a="http://schemas.openxmlformats.org/drawingml/2006/main">
              <a:ext uri="{FF2B5EF4-FFF2-40B4-BE49-F238E27FC236}">
                <a16:creationId xmlns:a16="http://schemas.microsoft.com/office/drawing/2014/main" id="{C862897B-B296-4162-BB27-82B1DF40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7788" y="3602355"/>
            <a:ext cx="3614738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chip">
            <a:extLst xmlns:a="http://schemas.openxmlformats.org/drawingml/2006/main">
              <a:ext uri="{FF2B5EF4-FFF2-40B4-BE49-F238E27FC236}">
                <a16:creationId xmlns:a16="http://schemas.microsoft.com/office/drawing/2014/main" id="{C59357C1-5C49-404E-8762-7044339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38" y="3792855"/>
            <a:ext cx="3195638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>
              <a:alpha val="9412"/>
            </a:srgbClr>
          </a:solidFill>
        </p:spPr>
      </p:sp>
      <p:sp>
        <p:nvSpPr>
          <p:cNvPr id="26" name="chip-label">
            <a:extLst xmlns:a="http://schemas.openxmlformats.org/drawingml/2006/main">
              <a:ext uri="{FF2B5EF4-FFF2-40B4-BE49-F238E27FC236}">
                <a16:creationId xmlns:a16="http://schemas.microsoft.com/office/drawing/2014/main" id="{56ECE3C9-9BEB-4619-8870-693084A7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862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5 Extract</a:t>
            </a:r>
          </a:p>
        </p:txBody>
      </p:sp>
      <p:sp>
        <p:nvSpPr>
          <p:cNvPr id="27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F07FE8C8-AA59-4A7D-8BAF-E48469DA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48150"/>
            <a:ext cx="3200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Rules extract coach, component, type, severity, description.</a:t>
            </a:r>
          </a:p>
        </p:txBody>
      </p:sp>
      <p:sp>
        <p:nvSpPr>
          <p:cNvPr id="28" name="flow-arrow">
            <a:extLst xmlns:a="http://schemas.openxmlformats.org/drawingml/2006/main">
              <a:ext uri="{FF2B5EF4-FFF2-40B4-BE49-F238E27FC236}">
                <a16:creationId xmlns:a16="http://schemas.microsoft.com/office/drawing/2014/main" id="{5C2B6CC9-F836-4237-8A63-71132A9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045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29" name="flow-step">
            <a:extLst xmlns:a="http://schemas.openxmlformats.org/drawingml/2006/main">
              <a:ext uri="{FF2B5EF4-FFF2-40B4-BE49-F238E27FC236}">
                <a16:creationId xmlns:a16="http://schemas.microsoft.com/office/drawing/2014/main" id="{FB15676C-8412-43CD-915B-6A60DB0E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602355"/>
            <a:ext cx="3614738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chip">
            <a:extLst xmlns:a="http://schemas.openxmlformats.org/drawingml/2006/main">
              <a:ext uri="{FF2B5EF4-FFF2-40B4-BE49-F238E27FC236}">
                <a16:creationId xmlns:a16="http://schemas.microsoft.com/office/drawing/2014/main" id="{91F9D7C6-424F-4961-84C8-52632FBC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792855"/>
            <a:ext cx="3195638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>
              <a:alpha val="9412"/>
            </a:srgbClr>
          </a:solidFill>
        </p:spPr>
      </p:sp>
      <p:sp>
        <p:nvSpPr>
          <p:cNvPr id="31" name="chip-label">
            <a:extLst xmlns:a="http://schemas.openxmlformats.org/drawingml/2006/main">
              <a:ext uri="{FF2B5EF4-FFF2-40B4-BE49-F238E27FC236}">
                <a16:creationId xmlns:a16="http://schemas.microsoft.com/office/drawing/2014/main" id="{78AC421E-92C2-4ECE-8839-03E7D0A8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862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11D48"/>
                </a:solidFill>
              </a:defRPr>
            </a:pPr>
            <a:r>
              <a:rPr sz="1350" b="1">
                <a:solidFill>
                  <a:srgbClr val="E11D48"/>
                </a:solidFill>
              </a:rPr>
              <a:t>6 Review</a:t>
            </a:r>
          </a:p>
        </p:txBody>
      </p:sp>
      <p:sp>
        <p:nvSpPr>
          <p:cNvPr id="32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EA26475B-9E60-47C2-92BE-5C439B59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48150"/>
            <a:ext cx="3200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Supervisor checks evidence and updates status.</a:t>
            </a:r>
          </a:p>
        </p:txBody>
      </p:sp>
      <p:sp>
        <p:nvSpPr>
          <p:cNvPr id="33" name="flow-arrow">
            <a:extLst xmlns:a="http://schemas.openxmlformats.org/drawingml/2006/main">
              <a:ext uri="{FF2B5EF4-FFF2-40B4-BE49-F238E27FC236}">
                <a16:creationId xmlns:a16="http://schemas.microsoft.com/office/drawing/2014/main" id="{002E922A-B96C-48A8-A612-20AEC87E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60045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34" name="flow-step">
            <a:extLst xmlns:a="http://schemas.openxmlformats.org/drawingml/2006/main">
              <a:ext uri="{FF2B5EF4-FFF2-40B4-BE49-F238E27FC236}">
                <a16:creationId xmlns:a16="http://schemas.microsoft.com/office/drawing/2014/main" id="{34CB18A0-2228-4921-BBD1-1F899D12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3163" y="3602355"/>
            <a:ext cx="3614738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chip">
            <a:extLst xmlns:a="http://schemas.openxmlformats.org/drawingml/2006/main">
              <a:ext uri="{FF2B5EF4-FFF2-40B4-BE49-F238E27FC236}">
                <a16:creationId xmlns:a16="http://schemas.microsoft.com/office/drawing/2014/main" id="{46B2F0B3-910F-42C9-A2C4-108D8589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2713" y="3792855"/>
            <a:ext cx="3195638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>
              <a:alpha val="9412"/>
            </a:srgbClr>
          </a:solidFill>
        </p:spPr>
      </p:sp>
      <p:sp>
        <p:nvSpPr>
          <p:cNvPr id="36" name="chip-label">
            <a:extLst xmlns:a="http://schemas.openxmlformats.org/drawingml/2006/main">
              <a:ext uri="{FF2B5EF4-FFF2-40B4-BE49-F238E27FC236}">
                <a16:creationId xmlns:a16="http://schemas.microsoft.com/office/drawing/2014/main" id="{740A45AB-0C8C-4DA2-A82D-51495E71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8862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7 Analyze</a:t>
            </a:r>
          </a:p>
        </p:txBody>
      </p:sp>
      <p:sp>
        <p:nvSpPr>
          <p:cNvPr id="37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F2ADA214-2285-45AE-B5AF-84C1299D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248150"/>
            <a:ext cx="3200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Manager dashboard summarizes trends and risk.</a:t>
            </a:r>
          </a:p>
        </p:txBody>
      </p:sp>
      <p:sp>
        <p:nvSpPr>
          <p:cNvPr id="3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CE48099-5871-4367-B13C-02E576A6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2430522-47B4-4E87-A3B9-A51A3780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0481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ABA4DDF-E1B0-40B1-B44B-BF6F8764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63F2B85-5DB1-4A13-A299-9DA08743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37704F-CB1D-4874-8C56-1F5A5483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26111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project is layered so each responsibility is easy to explain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0289FE3-C3A9-41F2-81D3-F1FFCEEF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0210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Frontend, API routers, services, database models, upload storage, Whisper, and Ollama are separated.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D4921E0D-2F09-4810-88B8-6F5A8271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5410200" cy="29432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9BBB5C6-E55F-4BE8-B54B-4BA5E1BC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88AE0BF6-3D48-4A38-9603-29825EF5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Browser UI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59EBD548-8FE1-4969-9C12-C5BCAAA7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87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Next.js pages: Inspector, Supervisor, Manager. Uses Fetch API and browser MediaRecorder.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2AF09891-24B7-4E23-8F6C-62A18FCA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5410200" cy="29432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98ECC2F-B99D-4FBD-9A50-1AD6C5D8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81414A20-F578-4708-A1DE-1E36D242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2900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FastAPI app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FF66866A-9881-4391-8173-22B4B84A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87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Health, auth, defects, media, and dashboard routers. CORS allows the frontend origin.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46F68827-6296-4C56-B7E3-2AD5DBF3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200400"/>
            <a:ext cx="5410200" cy="29432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D76E163-4079-4B57-9029-415DC45C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9A001301-19A7-4C6B-A414-141A9FE1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42900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Service layer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99A62E04-F263-43D5-B660-DC68A19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848100"/>
            <a:ext cx="487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Storage, rule extractor, speech-to-text, and optional LLM extractor keep logic outside routers.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C3AEDF87-6C86-4BF8-9FC9-85AE7B82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72225"/>
            <a:ext cx="5410200" cy="29432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0DA024B-0808-438B-A7B0-14C3F57F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913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A62EDAD2-90B4-4380-BDCA-8C489851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1035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Database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A33674F6-3F08-42AA-9511-8669E40C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29450"/>
            <a:ext cx="487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SQLAlchemy models store users, defects, media metadata, and status history.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5828964D-022E-457F-A650-EDFC0E93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372225"/>
            <a:ext cx="5410200" cy="29432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28C79F2-6AD1-4315-9EE4-F9686839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5913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23" name="card-title">
            <a:extLst xmlns:a="http://schemas.openxmlformats.org/drawingml/2006/main">
              <a:ext uri="{FF2B5EF4-FFF2-40B4-BE49-F238E27FC236}">
                <a16:creationId xmlns:a16="http://schemas.microsoft.com/office/drawing/2014/main" id="{F275FDCC-C15C-464B-A7B8-A1765954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61035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File storage</a:t>
            </a:r>
          </a:p>
        </p:txBody>
      </p:sp>
      <p:sp>
        <p:nvSpPr>
          <p:cNvPr id="24" name="card-body">
            <a:extLst xmlns:a="http://schemas.openxmlformats.org/drawingml/2006/main">
              <a:ext uri="{FF2B5EF4-FFF2-40B4-BE49-F238E27FC236}">
                <a16:creationId xmlns:a16="http://schemas.microsoft.com/office/drawing/2014/main" id="{7795678F-D1F9-445D-A7B8-62AF7358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29450"/>
            <a:ext cx="487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Audio and image files are stored under backend/uploads, with only paths stored in DB.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D074BE7C-0082-4EA2-913E-C45FFE32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372225"/>
            <a:ext cx="5410200" cy="2943225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3019B81-22D7-44EA-8F3E-08C07619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65913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27" name="card-title">
            <a:extLst xmlns:a="http://schemas.openxmlformats.org/drawingml/2006/main">
              <a:ext uri="{FF2B5EF4-FFF2-40B4-BE49-F238E27FC236}">
                <a16:creationId xmlns:a16="http://schemas.microsoft.com/office/drawing/2014/main" id="{A7B60C42-C799-4FEB-8968-7E80D10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6610350"/>
            <a:ext cx="4667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Optional intelligence</a:t>
            </a:r>
          </a:p>
        </p:txBody>
      </p:sp>
      <p:sp>
        <p:nvSpPr>
          <p:cNvPr id="28" name="card-body">
            <a:extLst xmlns:a="http://schemas.openxmlformats.org/drawingml/2006/main">
              <a:ext uri="{FF2B5EF4-FFF2-40B4-BE49-F238E27FC236}">
                <a16:creationId xmlns:a16="http://schemas.microsoft.com/office/drawing/2014/main" id="{51E28A43-143F-4DAA-8916-B36158E5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029450"/>
            <a:ext cx="4876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Whisper runs local speech-to-text. Ollama runs local LLM extraction only when requested.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5E76D3F-2496-4911-9940-135F753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83106C0-7C15-41C7-88E6-FE2E4660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39380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A7ACBA1-5D3E-40BA-A473-1CFDDD70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3E4F99D-086A-4B4D-A188-287E4FB9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DEVICE VS SERVER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AEEA60-3E6E-4B2D-9ADE-AFE6FC40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40398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browser captures evidence; the backend processes and stores it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C2966E9-4829-41EA-96DA-5C41B7D0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9344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This split keeps the demo simple while leaving room for future on-device speech options.</a:t>
            </a:r>
          </a:p>
        </p:txBody>
      </p:sp>
      <p:sp>
        <p:nvSpPr>
          <p:cNvPr id="5" name="device-panel">
            <a:extLst xmlns:a="http://schemas.openxmlformats.org/drawingml/2006/main">
              <a:ext uri="{FF2B5EF4-FFF2-40B4-BE49-F238E27FC236}">
                <a16:creationId xmlns:a16="http://schemas.microsoft.com/office/drawing/2014/main" id="{AE70BB93-90FA-493A-BD69-8C99A11D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8181975" cy="61150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hip">
            <a:extLst xmlns:a="http://schemas.openxmlformats.org/drawingml/2006/main">
              <a:ext uri="{FF2B5EF4-FFF2-40B4-BE49-F238E27FC236}">
                <a16:creationId xmlns:a16="http://schemas.microsoft.com/office/drawing/2014/main" id="{F81DEF08-A554-4269-9238-C8A21E3A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24765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>
              <a:alpha val="9412"/>
            </a:srgbClr>
          </a:solidFill>
        </p:spPr>
      </p:sp>
      <p:sp>
        <p:nvSpPr>
          <p:cNvPr id="7" name="chip-label">
            <a:extLst xmlns:a="http://schemas.openxmlformats.org/drawingml/2006/main">
              <a:ext uri="{FF2B5EF4-FFF2-40B4-BE49-F238E27FC236}">
                <a16:creationId xmlns:a16="http://schemas.microsoft.com/office/drawing/2014/main" id="{9D8C89B6-501B-48EC-8D81-5485F9BA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Inspector device</a:t>
            </a:r>
          </a:p>
        </p:txBody>
      </p:sp>
      <p:sp>
        <p:nvSpPr>
          <p:cNvPr id="8" name="bullet-dot">
            <a:extLst xmlns:a="http://schemas.openxmlformats.org/drawingml/2006/main">
              <a:ext uri="{FF2B5EF4-FFF2-40B4-BE49-F238E27FC236}">
                <a16:creationId xmlns:a16="http://schemas.microsoft.com/office/drawing/2014/main" id="{EC8A1753-E2C0-40AF-92A4-2AFC78F9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9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6F55C8D4-06E7-4EBE-948E-0B9BF66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Records audio</a:t>
            </a:r>
          </a:p>
        </p:txBody>
      </p:sp>
      <p:sp>
        <p:nvSpPr>
          <p:cNvPr id="10" name="bullet-body">
            <a:extLst xmlns:a="http://schemas.openxmlformats.org/drawingml/2006/main">
              <a:ext uri="{FF2B5EF4-FFF2-40B4-BE49-F238E27FC236}">
                <a16:creationId xmlns:a16="http://schemas.microsoft.com/office/drawing/2014/main" id="{943A4415-E09A-4DF6-B76D-6AB57592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MediaRecorder creates a browser audio file.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333882F8-0962-49A3-AE5A-8E7E3B17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12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3CEAECFD-C21B-403B-9A6A-DF61EA1F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Previews image</a:t>
            </a:r>
          </a:p>
        </p:txBody>
      </p:sp>
      <p:sp>
        <p:nvSpPr>
          <p:cNvPr id="13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253B98F-D584-4215-A331-96BF8E4C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The UI shows selected image evidence before submit.</a:t>
            </a:r>
          </a:p>
        </p:txBody>
      </p:sp>
      <p:sp>
        <p:nvSpPr>
          <p:cNvPr id="14" name="bullet-dot">
            <a:extLst xmlns:a="http://schemas.openxmlformats.org/drawingml/2006/main">
              <a:ext uri="{FF2B5EF4-FFF2-40B4-BE49-F238E27FC236}">
                <a16:creationId xmlns:a16="http://schemas.microsoft.com/office/drawing/2014/main" id="{FBBE0413-ED1E-47DD-9486-9C9631D4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15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99362E2B-6472-4E8D-9770-9BA17497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Sends requests</a:t>
            </a:r>
          </a:p>
        </p:txBody>
      </p:sp>
      <p:sp>
        <p:nvSpPr>
          <p:cNvPr id="16" name="bullet-body">
            <a:extLst xmlns:a="http://schemas.openxmlformats.org/drawingml/2006/main">
              <a:ext uri="{FF2B5EF4-FFF2-40B4-BE49-F238E27FC236}">
                <a16:creationId xmlns:a16="http://schemas.microsoft.com/office/drawing/2014/main" id="{D6B9E406-F2F7-42E2-A16F-2E9126E8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Fetch API posts JSON and FormData to FastAPI.</a:t>
            </a:r>
          </a:p>
        </p:txBody>
      </p:sp>
      <p:sp>
        <p:nvSpPr>
          <p:cNvPr id="17" name="bullet-dot">
            <a:extLst xmlns:a="http://schemas.openxmlformats.org/drawingml/2006/main">
              <a:ext uri="{FF2B5EF4-FFF2-40B4-BE49-F238E27FC236}">
                <a16:creationId xmlns:a16="http://schemas.microsoft.com/office/drawing/2014/main" id="{62AABDB4-AD9F-4C1E-9224-2A61C14F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05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18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3D8CC662-2241-4DA4-89CD-7918AAE1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Shows results</a:t>
            </a:r>
          </a:p>
        </p:txBody>
      </p:sp>
      <p:sp>
        <p:nvSpPr>
          <p:cNvPr id="19" name="bullet-body">
            <a:extLst xmlns:a="http://schemas.openxmlformats.org/drawingml/2006/main">
              <a:ext uri="{FF2B5EF4-FFF2-40B4-BE49-F238E27FC236}">
                <a16:creationId xmlns:a16="http://schemas.microsoft.com/office/drawing/2014/main" id="{DD4817B7-CF0E-4CE1-BF84-5D861688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484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The UI displays transcript, translation, extracted fields, and errors.</a:t>
            </a:r>
          </a:p>
        </p:txBody>
      </p:sp>
      <p:sp>
        <p:nvSpPr>
          <p:cNvPr id="20" name="server-panel">
            <a:extLst xmlns:a="http://schemas.openxmlformats.org/drawingml/2006/main">
              <a:ext uri="{FF2B5EF4-FFF2-40B4-BE49-F238E27FC236}">
                <a16:creationId xmlns:a16="http://schemas.microsoft.com/office/drawing/2014/main" id="{AAD8E9E7-489A-41AB-8230-2064867D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00400"/>
            <a:ext cx="8181975" cy="61150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chip">
            <a:extLst xmlns:a="http://schemas.openxmlformats.org/drawingml/2006/main">
              <a:ext uri="{FF2B5EF4-FFF2-40B4-BE49-F238E27FC236}">
                <a16:creationId xmlns:a16="http://schemas.microsoft.com/office/drawing/2014/main" id="{9E837325-DE19-45D2-8FAE-45EBA449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86150"/>
            <a:ext cx="24765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9412"/>
            </a:srgbClr>
          </a:solidFill>
        </p:spPr>
      </p:sp>
      <p:sp>
        <p:nvSpPr>
          <p:cNvPr id="22" name="chip-label">
            <a:extLst xmlns:a="http://schemas.openxmlformats.org/drawingml/2006/main">
              <a:ext uri="{FF2B5EF4-FFF2-40B4-BE49-F238E27FC236}">
                <a16:creationId xmlns:a16="http://schemas.microsoft.com/office/drawing/2014/main" id="{2C97A5F3-AC74-4AA8-9E3D-A8BB4EF5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8140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Backend server</a:t>
            </a:r>
          </a:p>
        </p:txBody>
      </p:sp>
      <p:sp>
        <p:nvSpPr>
          <p:cNvPr id="23" name="bullet-dot">
            <a:extLst xmlns:a="http://schemas.openxmlformats.org/drawingml/2006/main">
              <a:ext uri="{FF2B5EF4-FFF2-40B4-BE49-F238E27FC236}">
                <a16:creationId xmlns:a16="http://schemas.microsoft.com/office/drawing/2014/main" id="{A2DCBE8F-9D6D-4025-8F6B-C8209BB7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76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24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352617B7-755D-4D4A-922C-DACCF368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767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Stores data</a:t>
            </a:r>
          </a:p>
        </p:txBody>
      </p:sp>
      <p:sp>
        <p:nvSpPr>
          <p:cNvPr id="2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726B4BE-9AE9-42B7-BE5C-25010830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005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SQLAlchemy writes defects, users, media rows, and status history.</a:t>
            </a:r>
          </a:p>
        </p:txBody>
      </p:sp>
      <p:sp>
        <p:nvSpPr>
          <p:cNvPr id="26" name="bullet-dot">
            <a:extLst xmlns:a="http://schemas.openxmlformats.org/drawingml/2006/main">
              <a:ext uri="{FF2B5EF4-FFF2-40B4-BE49-F238E27FC236}">
                <a16:creationId xmlns:a16="http://schemas.microsoft.com/office/drawing/2014/main" id="{55DE648A-BEC0-472A-9C5F-8940A81E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9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27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9DE9F0E2-C097-4A42-97A7-10F1E2CB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196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Stores files</a:t>
            </a:r>
          </a:p>
        </p:txBody>
      </p:sp>
      <p:sp>
        <p:nvSpPr>
          <p:cNvPr id="28" name="bullet-body">
            <a:extLst xmlns:a="http://schemas.openxmlformats.org/drawingml/2006/main">
              <a:ext uri="{FF2B5EF4-FFF2-40B4-BE49-F238E27FC236}">
                <a16:creationId xmlns:a16="http://schemas.microsoft.com/office/drawing/2014/main" id="{318C6F8C-80F6-4CA1-A29C-10EDA6DF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43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Audio/image binaries are saved under backend/uploads.</a:t>
            </a:r>
          </a:p>
        </p:txBody>
      </p:sp>
      <p:sp>
        <p:nvSpPr>
          <p:cNvPr id="29" name="bullet-dot">
            <a:extLst xmlns:a="http://schemas.openxmlformats.org/drawingml/2006/main">
              <a:ext uri="{FF2B5EF4-FFF2-40B4-BE49-F238E27FC236}">
                <a16:creationId xmlns:a16="http://schemas.microsoft.com/office/drawing/2014/main" id="{13C50811-C470-4748-93C4-D971D0DA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62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30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4A719AE1-FD8B-4820-9E1E-E2B8AE4A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626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Runs extraction</a:t>
            </a:r>
          </a:p>
        </p:txBody>
      </p:sp>
      <p:sp>
        <p:nvSpPr>
          <p:cNvPr id="31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9F6B3A9-746B-482A-9EA8-2246BB27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905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Rules and optional Ollama convert transcripts into structured fields.</a:t>
            </a:r>
          </a:p>
        </p:txBody>
      </p:sp>
      <p:sp>
        <p:nvSpPr>
          <p:cNvPr id="32" name="bullet-dot">
            <a:extLst xmlns:a="http://schemas.openxmlformats.org/drawingml/2006/main">
              <a:ext uri="{FF2B5EF4-FFF2-40B4-BE49-F238E27FC236}">
                <a16:creationId xmlns:a16="http://schemas.microsoft.com/office/drawing/2014/main" id="{D2D1E6E1-685B-4A14-8977-324195C8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05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33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1364DF9D-2E59-4E75-A43D-267F4C7D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3055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Runs Whisper</a:t>
            </a:r>
          </a:p>
        </p:txBody>
      </p:sp>
      <p:sp>
        <p:nvSpPr>
          <p:cNvPr id="34" name="bullet-body">
            <a:extLst xmlns:a="http://schemas.openxmlformats.org/drawingml/2006/main">
              <a:ext uri="{FF2B5EF4-FFF2-40B4-BE49-F238E27FC236}">
                <a16:creationId xmlns:a16="http://schemas.microsoft.com/office/drawing/2014/main" id="{7EE4C293-26E6-4FE6-BB45-D8D42F87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6484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When enabled, local backend Whisper converts audio to text/English.</a:t>
            </a:r>
          </a:p>
        </p:txBody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794A26B-E090-415B-9BED-7B508646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01EF6DA-0B10-4238-8D9C-5CF4616B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12070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594C213-9042-49A4-9AB1-ED05B040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2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14751736-F291-4859-A691-715A1D50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20000"/>
            </a:srgbClr>
          </a:solidFill>
        </p:spPr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4330F3-2C27-40E3-A450-4E96B82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1630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BACKEND DESIGN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083441-3486-4E69-A47D-38B5A287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11315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FastAPI is the stable center of the MVP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A78A3E4-A3AF-4A57-8B59-8CED6687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0077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BD5E1"/>
                </a:solidFill>
              </a:defRPr>
            </a:pPr>
            <a:r>
              <a:rPr sz="2250">
                <a:solidFill>
                  <a:srgbClr val="CBD5E1"/>
                </a:solidFill>
              </a:rPr>
              <a:t>It owns validation, persistence, media storage, extraction, transcription, and dashboard APIs.</a:t>
            </a:r>
          </a:p>
        </p:txBody>
      </p:sp>
      <p:sp>
        <p:nvSpPr>
          <p:cNvPr id="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BF814F05-990B-4C05-9A26-A92ACED7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2400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A8D1A9C-294E-4EAA-9D52-40F657A4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236F909-2863-4223-800D-1FEE9F7D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BACKEND FOLDER MAP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280445-40E7-4593-A957-693FFCAA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40779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backend is organized around routers, models, schemas, and services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E93CBC-20C2-4579-A700-992D6393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05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This makes it easy to point a senior to the exact place where each behavior lives.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6CEA96A8-F22A-4CD1-A7A8-321A1360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322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287183D-0A8D-464C-B442-550ABF42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CA0E4D7E-747F-4F5F-BBB2-645DBB87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app/main.py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C20DFDC3-5386-4361-A9CB-F0E369E4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Creates FastAPI, adds CORS, mounts uploads, includes routers, and exposes GET /health.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0DBEC023-D15F-4759-9FE0-87C5AD0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0322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2A2E6D9-D6F4-48E0-B220-ADA73778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C8049E6E-8AF6-4108-82A1-4E8054DC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app/database.py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F9327A37-61B2-4085-B382-C97DDA18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433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Creates SQLAlchemy engine/session, creates tables, and seeds demo users/defects.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6892BF92-5B3F-4E85-9B11-3CDC234C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413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BD31891-7BBA-4B82-AEDD-AFF45ECE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3AD043EB-0C4D-45E7-98EB-784E4284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34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app/models.py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E108BBF7-EEDD-401F-B572-474EEB2E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Defines User, DefectLog, MediaFile, and StatusHistory database tables.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32EC24CB-E85B-42B7-A817-0364D61D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0413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6D4455A-FE49-44BB-BB7D-EA305FED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334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65A2FDBB-04F8-4D72-A580-2550694F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34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app/schemas.py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BC505838-4BC9-4845-9830-0077E6F4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531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Defines Pydantic request/response shapes for API validation.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BF41F0CE-3A71-4827-9693-D8B60562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0504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50CA8F4-9D42-439A-B7DC-7DE4C672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438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23" name="card-title">
            <a:extLst xmlns:a="http://schemas.openxmlformats.org/drawingml/2006/main">
              <a:ext uri="{FF2B5EF4-FFF2-40B4-BE49-F238E27FC236}">
                <a16:creationId xmlns:a16="http://schemas.microsoft.com/office/drawing/2014/main" id="{7E6B4631-B40D-4716-8E6F-4C58534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5247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app/routers/*</a:t>
            </a:r>
          </a:p>
        </p:txBody>
      </p:sp>
      <p:sp>
        <p:nvSpPr>
          <p:cNvPr id="24" name="card-body">
            <a:extLst xmlns:a="http://schemas.openxmlformats.org/drawingml/2006/main">
              <a:ext uri="{FF2B5EF4-FFF2-40B4-BE49-F238E27FC236}">
                <a16:creationId xmlns:a16="http://schemas.microsoft.com/office/drawing/2014/main" id="{047A6858-335D-4B0F-BCB9-C4263E52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438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Separates auth, defects, media upload, and dashboard endpoints.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7FC0A3F9-50C5-4E31-A5FF-0012CD3A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30504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0422870-BE9A-4A7B-8CAB-C3B05A5C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5438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27" name="card-title">
            <a:extLst xmlns:a="http://schemas.openxmlformats.org/drawingml/2006/main">
              <a:ext uri="{FF2B5EF4-FFF2-40B4-BE49-F238E27FC236}">
                <a16:creationId xmlns:a16="http://schemas.microsoft.com/office/drawing/2014/main" id="{F0797661-5B90-419A-A6C2-367E4880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5247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app/services/*</a:t>
            </a:r>
          </a:p>
        </p:txBody>
      </p:sp>
      <p:sp>
        <p:nvSpPr>
          <p:cNvPr id="28" name="card-body">
            <a:extLst xmlns:a="http://schemas.openxmlformats.org/drawingml/2006/main">
              <a:ext uri="{FF2B5EF4-FFF2-40B4-BE49-F238E27FC236}">
                <a16:creationId xmlns:a16="http://schemas.microsoft.com/office/drawing/2014/main" id="{AACC22E9-0D01-4DE8-A503-626193F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9438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Contains extractor, storage, speech, optional LLM extraction, and extraction pipeline logic.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08C0B5F-6C31-4A0F-BCC4-3AF6B3F7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15C68BD-5E9D-4EBB-AC94-2ECA70AF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8749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F125137-72DA-494C-A9C1-DC904F7F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A515FCE-FD66-4054-9462-42D312CF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API SURFACE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E5D2D4-5ED9-47DA-9FEC-F073D24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9677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backend exposes focused API groups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DC1E97-19D6-4613-AACA-48ADC05B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5810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Each group maps to one part of the operational workflow.</a:t>
            </a:r>
          </a:p>
        </p:txBody>
      </p:sp>
      <p:sp>
        <p:nvSpPr>
          <p:cNvPr id="5" name="chip">
            <a:extLst xmlns:a="http://schemas.openxmlformats.org/drawingml/2006/main">
              <a:ext uri="{FF2B5EF4-FFF2-40B4-BE49-F238E27FC236}">
                <a16:creationId xmlns:a16="http://schemas.microsoft.com/office/drawing/2014/main" id="{22EFD673-BF3F-46A8-ADC2-774E3001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780692" cy="110871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334155">
              <a:alpha val="9412"/>
            </a:srgbClr>
          </a:solidFill>
        </p:spPr>
      </p:sp>
      <p:sp>
        <p:nvSpPr>
          <p:cNvPr id="6" name="chip-label">
            <a:extLst xmlns:a="http://schemas.openxmlformats.org/drawingml/2006/main">
              <a:ext uri="{FF2B5EF4-FFF2-40B4-BE49-F238E27FC236}">
                <a16:creationId xmlns:a16="http://schemas.microsoft.com/office/drawing/2014/main" id="{D7F351C4-991A-41C7-8D49-2420BE25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3429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Group</a:t>
            </a:r>
          </a:p>
        </p:txBody>
      </p:sp>
      <p:sp>
        <p:nvSpPr>
          <p:cNvPr id="7" name="chip">
            <a:extLst xmlns:a="http://schemas.openxmlformats.org/drawingml/2006/main">
              <a:ext uri="{FF2B5EF4-FFF2-40B4-BE49-F238E27FC236}">
                <a16:creationId xmlns:a16="http://schemas.microsoft.com/office/drawing/2014/main" id="{091749CA-6955-461E-AB05-B942B067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192" y="2514600"/>
            <a:ext cx="5250962" cy="110871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334155">
              <a:alpha val="9412"/>
            </a:srgbClr>
          </a:solidFill>
        </p:spPr>
      </p:sp>
      <p:sp>
        <p:nvSpPr>
          <p:cNvPr id="8" name="chip-label">
            <a:extLst xmlns:a="http://schemas.openxmlformats.org/drawingml/2006/main">
              <a:ext uri="{FF2B5EF4-FFF2-40B4-BE49-F238E27FC236}">
                <a16:creationId xmlns:a16="http://schemas.microsoft.com/office/drawing/2014/main" id="{94F3F4F4-420B-48BF-857A-57F4131B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0985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Endpoints</a:t>
            </a:r>
          </a:p>
        </p:txBody>
      </p:sp>
      <p:sp>
        <p:nvSpPr>
          <p:cNvPr id="9" name="chip">
            <a:extLst xmlns:a="http://schemas.openxmlformats.org/drawingml/2006/main">
              <a:ext uri="{FF2B5EF4-FFF2-40B4-BE49-F238E27FC236}">
                <a16:creationId xmlns:a16="http://schemas.microsoft.com/office/drawing/2014/main" id="{AE49D9A6-3C77-40EC-903B-324067F3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554" y="2514600"/>
            <a:ext cx="7351346" cy="1108710"/>
          </a:xfrm>
          <a:prstGeom xmlns:a="http://schemas.openxmlformats.org/drawingml/2006/main" prst="roundRect">
            <a:avLst>
              <a:gd name="adj" fmla="val 20619"/>
            </a:avLst>
          </a:prstGeom>
          <a:solidFill xmlns:a="http://schemas.openxmlformats.org/drawingml/2006/main">
            <a:srgbClr val="334155">
              <a:alpha val="9412"/>
            </a:srgbClr>
          </a:solidFill>
        </p:spPr>
      </p:sp>
      <p:sp>
        <p:nvSpPr>
          <p:cNvPr id="10" name="chip-label">
            <a:extLst xmlns:a="http://schemas.openxmlformats.org/drawingml/2006/main">
              <a:ext uri="{FF2B5EF4-FFF2-40B4-BE49-F238E27FC236}">
                <a16:creationId xmlns:a16="http://schemas.microsoft.com/office/drawing/2014/main" id="{D99C8E1F-D7B1-4623-8D57-0D06CA13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09850"/>
            <a:ext cx="701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Purpose</a:t>
            </a:r>
          </a:p>
        </p:txBody>
      </p:sp>
      <p:sp>
        <p:nvSpPr>
          <p:cNvPr id="11" name="body-text">
            <a:extLst xmlns:a="http://schemas.openxmlformats.org/drawingml/2006/main">
              <a:ext uri="{FF2B5EF4-FFF2-40B4-BE49-F238E27FC236}">
                <a16:creationId xmlns:a16="http://schemas.microsoft.com/office/drawing/2014/main" id="{F73ADC0C-D002-4B95-90C5-906B1730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3771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Health</a:t>
            </a:r>
          </a:p>
        </p:txBody>
      </p:sp>
      <p:sp>
        <p:nvSpPr>
          <p:cNvPr id="12" name="body-text">
            <a:extLst xmlns:a="http://schemas.openxmlformats.org/drawingml/2006/main">
              <a:ext uri="{FF2B5EF4-FFF2-40B4-BE49-F238E27FC236}">
                <a16:creationId xmlns:a16="http://schemas.microsoft.com/office/drawing/2014/main" id="{11B1DB8F-F8FD-4158-B468-D698B139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33800"/>
            <a:ext cx="5257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GET /health</a:t>
            </a:r>
          </a:p>
        </p:txBody>
      </p:sp>
      <p:sp>
        <p:nvSpPr>
          <p:cNvPr id="13" name="body-text">
            <a:extLst xmlns:a="http://schemas.openxmlformats.org/drawingml/2006/main">
              <a:ext uri="{FF2B5EF4-FFF2-40B4-BE49-F238E27FC236}">
                <a16:creationId xmlns:a16="http://schemas.microsoft.com/office/drawing/2014/main" id="{1FD998EF-22DF-4DA1-A853-32A41C15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33800"/>
            <a:ext cx="7353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Shows API status, DB backend, ports, Whisper, and LLM flags.</a:t>
            </a:r>
          </a:p>
        </p:txBody>
      </p:sp>
      <p:sp>
        <p:nvSpPr>
          <p:cNvPr id="14" name="body-text">
            <a:extLst xmlns:a="http://schemas.openxmlformats.org/drawingml/2006/main">
              <a:ext uri="{FF2B5EF4-FFF2-40B4-BE49-F238E27FC236}">
                <a16:creationId xmlns:a16="http://schemas.microsoft.com/office/drawing/2014/main" id="{CF9E3658-A1C9-4839-A77F-B125C6D2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3771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Auth</a:t>
            </a:r>
          </a:p>
        </p:txBody>
      </p:sp>
      <p:sp>
        <p:nvSpPr>
          <p:cNvPr id="15" name="body-text">
            <a:extLst xmlns:a="http://schemas.openxmlformats.org/drawingml/2006/main">
              <a:ext uri="{FF2B5EF4-FFF2-40B4-BE49-F238E27FC236}">
                <a16:creationId xmlns:a16="http://schemas.microsoft.com/office/drawing/2014/main" id="{45DE67AC-08D1-4C89-A3C2-AA87A4A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38700"/>
            <a:ext cx="5257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GET /api/auth/demo-users</a:t>
            </a:r>
          </a:p>
        </p:txBody>
      </p:sp>
      <p:sp>
        <p:nvSpPr>
          <p:cNvPr id="16" name="body-text">
            <a:extLst xmlns:a="http://schemas.openxmlformats.org/drawingml/2006/main">
              <a:ext uri="{FF2B5EF4-FFF2-40B4-BE49-F238E27FC236}">
                <a16:creationId xmlns:a16="http://schemas.microsoft.com/office/drawing/2014/main" id="{CEE9A033-7EC2-4D21-8FFF-052F11A3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38700"/>
            <a:ext cx="7353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Returns seeded demo users for role switching.</a:t>
            </a:r>
          </a:p>
        </p:txBody>
      </p:sp>
      <p:sp>
        <p:nvSpPr>
          <p:cNvPr id="17" name="body-text">
            <a:extLst xmlns:a="http://schemas.openxmlformats.org/drawingml/2006/main">
              <a:ext uri="{FF2B5EF4-FFF2-40B4-BE49-F238E27FC236}">
                <a16:creationId xmlns:a16="http://schemas.microsoft.com/office/drawing/2014/main" id="{8801F026-A269-4F59-9976-F1F545A7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3771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Defects</a:t>
            </a:r>
          </a:p>
        </p:txBody>
      </p:sp>
      <p:sp>
        <p:nvSpPr>
          <p:cNvPr id="18" name="body-text">
            <a:extLst xmlns:a="http://schemas.openxmlformats.org/drawingml/2006/main">
              <a:ext uri="{FF2B5EF4-FFF2-40B4-BE49-F238E27FC236}">
                <a16:creationId xmlns:a16="http://schemas.microsoft.com/office/drawing/2014/main" id="{69132CDD-7558-4395-9338-908B0CD1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924550"/>
            <a:ext cx="5257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POST/GET/PATCH /api/defects...</a:t>
            </a:r>
          </a:p>
        </p:txBody>
      </p:sp>
      <p:sp>
        <p:nvSpPr>
          <p:cNvPr id="19" name="body-text">
            <a:extLst xmlns:a="http://schemas.openxmlformats.org/drawingml/2006/main">
              <a:ext uri="{FF2B5EF4-FFF2-40B4-BE49-F238E27FC236}">
                <a16:creationId xmlns:a16="http://schemas.microsoft.com/office/drawing/2014/main" id="{E19FA398-335C-4B73-9A60-2F62F1FD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924550"/>
            <a:ext cx="7353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Creates, lists, retrieves, updates status, transcribes, and extracts defects.</a:t>
            </a:r>
          </a:p>
        </p:txBody>
      </p:sp>
      <p:sp>
        <p:nvSpPr>
          <p:cNvPr id="20" name="body-text">
            <a:extLst xmlns:a="http://schemas.openxmlformats.org/drawingml/2006/main">
              <a:ext uri="{FF2B5EF4-FFF2-40B4-BE49-F238E27FC236}">
                <a16:creationId xmlns:a16="http://schemas.microsoft.com/office/drawing/2014/main" id="{B6D0CDFA-CC97-4EFE-9988-AC74B744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29450"/>
            <a:ext cx="3771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Media</a:t>
            </a:r>
          </a:p>
        </p:txBody>
      </p:sp>
      <p:sp>
        <p:nvSpPr>
          <p:cNvPr id="21" name="body-text">
            <a:extLst xmlns:a="http://schemas.openxmlformats.org/drawingml/2006/main">
              <a:ext uri="{FF2B5EF4-FFF2-40B4-BE49-F238E27FC236}">
                <a16:creationId xmlns:a16="http://schemas.microsoft.com/office/drawing/2014/main" id="{7A635D5E-4DC7-4420-865E-8B37A970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7029450"/>
            <a:ext cx="5257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POST /media/audio, POST /media/image, GET /media</a:t>
            </a:r>
          </a:p>
        </p:txBody>
      </p:sp>
      <p:sp>
        <p:nvSpPr>
          <p:cNvPr id="22" name="body-text">
            <a:extLst xmlns:a="http://schemas.openxmlformats.org/drawingml/2006/main">
              <a:ext uri="{FF2B5EF4-FFF2-40B4-BE49-F238E27FC236}">
                <a16:creationId xmlns:a16="http://schemas.microsoft.com/office/drawing/2014/main" id="{D416AC1B-4CA3-427A-B2F5-4CB5FEEF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029450"/>
            <a:ext cx="7353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Uploads evidence and lists files linked to a defect.</a:t>
            </a:r>
          </a:p>
        </p:txBody>
      </p:sp>
      <p:sp>
        <p:nvSpPr>
          <p:cNvPr id="23" name="body-text">
            <a:extLst xmlns:a="http://schemas.openxmlformats.org/drawingml/2006/main">
              <a:ext uri="{FF2B5EF4-FFF2-40B4-BE49-F238E27FC236}">
                <a16:creationId xmlns:a16="http://schemas.microsoft.com/office/drawing/2014/main" id="{D4C4CBFB-72B8-44E9-A72D-E52A83A3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34350"/>
            <a:ext cx="3771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34155"/>
                </a:solidFill>
              </a:defRPr>
            </a:pPr>
            <a:r>
              <a:rPr sz="1650" b="1">
                <a:solidFill>
                  <a:srgbClr val="334155"/>
                </a:solidFill>
              </a:rPr>
              <a:t>Dashboard</a:t>
            </a:r>
          </a:p>
        </p:txBody>
      </p:sp>
      <p:sp>
        <p:nvSpPr>
          <p:cNvPr id="24" name="body-text">
            <a:extLst xmlns:a="http://schemas.openxmlformats.org/drawingml/2006/main">
              <a:ext uri="{FF2B5EF4-FFF2-40B4-BE49-F238E27FC236}">
                <a16:creationId xmlns:a16="http://schemas.microsoft.com/office/drawing/2014/main" id="{308B52CE-9B8E-4B0B-8AD2-041A97EB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8134350"/>
            <a:ext cx="52578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/summary, /defects-by-component, /defects-by-status, /recent-defects</a:t>
            </a:r>
          </a:p>
        </p:txBody>
      </p:sp>
      <p:sp>
        <p:nvSpPr>
          <p:cNvPr id="25" name="body-text">
            <a:extLst xmlns:a="http://schemas.openxmlformats.org/drawingml/2006/main">
              <a:ext uri="{FF2B5EF4-FFF2-40B4-BE49-F238E27FC236}">
                <a16:creationId xmlns:a16="http://schemas.microsoft.com/office/drawing/2014/main" id="{1B32F363-AC94-4132-819D-4DA5FC4F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8134350"/>
            <a:ext cx="73533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Feeds supervisor and manager summary views.</a:t>
            </a:r>
          </a:p>
        </p:txBody>
      </p:sp>
      <p:sp>
        <p:nvSpPr>
          <p:cNvPr id="2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CDC696-5FCA-46EC-B714-CDF68F95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E72CA84-E369-4BB5-ABF6-3B0BFC81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2384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DEA179B-D082-4948-B23F-A9EB1FC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0D0E8DF-1146-4361-A5E5-CD536BA0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DATABASE MODEL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2570B2-8ED4-4BE6-B68A-548BAA07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29540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database stores structured records; the file system stores binaries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B513DEC-165E-49B9-90F6-76800310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9829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This is deliberate because storing large audio/image blobs in the DB would make the MVP heavier.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2E0878B7-42EA-4A26-B656-64E497EE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8201025" cy="2962275"/>
          </a:xfrm>
          <a:prstGeom xmlns:a="http://schemas.openxmlformats.org/drawingml/2006/main" prst="roundRect">
            <a:avLst>
              <a:gd name="adj" fmla="val 57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4910263-6835-4BC6-A9BF-16AD9CAB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5EB53C38-B060-4DEB-BD6F-999FB75B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User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AB394FD4-C844-4510-ACC4-0EC39BC8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id, name, employee_id, role, password_hash, created_at. Demo users support role switching.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FCDF88A5-A317-481A-B390-3CEE4ED9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00400"/>
            <a:ext cx="8201025" cy="2962275"/>
          </a:xfrm>
          <a:prstGeom xmlns:a="http://schemas.openxmlformats.org/drawingml/2006/main" prst="roundRect">
            <a:avLst>
              <a:gd name="adj" fmla="val 57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4626262-9A4E-4DA8-8900-7044C678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4C3E83AD-EB1D-443C-906F-FA34573E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29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DefectLog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FE7AEA5D-FE01-491C-997F-8E0DE7DA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481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defect_code, train, coach, component, type, severity, transcript, translation, status, location, timestamps.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749381E8-AB0F-4CA3-A698-DE9F24C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53175"/>
            <a:ext cx="8201025" cy="2962275"/>
          </a:xfrm>
          <a:prstGeom xmlns:a="http://schemas.openxmlformats.org/drawingml/2006/main" prst="roundRect">
            <a:avLst>
              <a:gd name="adj" fmla="val 57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DAE1806-B9A6-402D-9362-C55FC727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913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6F1397E1-2413-4C91-9EEA-BD3BCF2F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913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MediaFile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C2124EFF-0880-4686-8367-9461A206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104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defect_id, file_type, file_path, original_filename, uploaded_at. Links evidence to one defect.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682CA0B9-A66F-46C0-852E-DF335702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353175"/>
            <a:ext cx="8201025" cy="2962275"/>
          </a:xfrm>
          <a:prstGeom xmlns:a="http://schemas.openxmlformats.org/drawingml/2006/main" prst="roundRect">
            <a:avLst>
              <a:gd name="adj" fmla="val 578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3CA5BFD-1086-4634-9619-CB99B71E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5913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68D85C25-2C94-468E-8C17-B0121ACA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5913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StatusHistory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41501314-EF0D-4965-944B-2509BB8E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0104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defect_id, old_status, new_status, remarks, updated_by, updated_at. Preserves supervisor workflow changes.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831D7C1-4860-4618-B4A3-8E58A90D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551F12A-D392-4EBE-9089-E9AB7F9F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791739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AFEECB9-CB50-411A-845A-1538CCB9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AA9AC51-E4AB-45EB-8863-E9C27FF1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STORAGE STRATEGY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4796B9-5297-4D13-A9B4-631C28F6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42684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Data and evidence are stored in different places for the right reasons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D5548F-299B-49DB-81C4-9AADB305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686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Metadata needs querying; audio/images need durable file storage.</a:t>
            </a:r>
          </a:p>
        </p:txBody>
      </p:sp>
      <p:sp>
        <p:nvSpPr>
          <p:cNvPr id="5" name="db-storage">
            <a:extLst xmlns:a="http://schemas.openxmlformats.org/drawingml/2006/main">
              <a:ext uri="{FF2B5EF4-FFF2-40B4-BE49-F238E27FC236}">
                <a16:creationId xmlns:a16="http://schemas.microsoft.com/office/drawing/2014/main" id="{C14DE4D3-52FA-4FB2-9F88-5214EFF9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3220"/>
            <a:ext cx="8181975" cy="6412230"/>
          </a:xfrm>
          <a:prstGeom xmlns:a="http://schemas.openxmlformats.org/drawingml/2006/main" prst="roundRect">
            <a:avLst>
              <a:gd name="adj" fmla="val 267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hip">
            <a:extLst xmlns:a="http://schemas.openxmlformats.org/drawingml/2006/main">
              <a:ext uri="{FF2B5EF4-FFF2-40B4-BE49-F238E27FC236}">
                <a16:creationId xmlns:a16="http://schemas.microsoft.com/office/drawing/2014/main" id="{85555BC9-B7FE-48FE-929E-B977C29D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8970"/>
            <a:ext cx="20955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>
              <a:alpha val="9412"/>
            </a:srgbClr>
          </a:solidFill>
        </p:spPr>
      </p:sp>
      <p:sp>
        <p:nvSpPr>
          <p:cNvPr id="7" name="chip-label">
            <a:extLst xmlns:a="http://schemas.openxmlformats.org/drawingml/2006/main">
              <a:ext uri="{FF2B5EF4-FFF2-40B4-BE49-F238E27FC236}">
                <a16:creationId xmlns:a16="http://schemas.microsoft.com/office/drawing/2014/main" id="{8C69E530-6E21-4C01-BF20-F0CA55F3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7660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Database</a:t>
            </a:r>
          </a:p>
        </p:txBody>
      </p:sp>
      <p:sp>
        <p:nvSpPr>
          <p:cNvPr id="8" name="bullet-dot">
            <a:extLst xmlns:a="http://schemas.openxmlformats.org/drawingml/2006/main">
              <a:ext uri="{FF2B5EF4-FFF2-40B4-BE49-F238E27FC236}">
                <a16:creationId xmlns:a16="http://schemas.microsoft.com/office/drawing/2014/main" id="{BAC08BEF-0819-4C67-9475-8D59C5CA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9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2C5BA7F9-3F5B-49CA-89D3-94A3D8F0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Defect rows</a:t>
            </a:r>
          </a:p>
        </p:txBody>
      </p:sp>
      <p:sp>
        <p:nvSpPr>
          <p:cNvPr id="10" name="bullet-body">
            <a:extLst xmlns:a="http://schemas.openxmlformats.org/drawingml/2006/main">
              <a:ext uri="{FF2B5EF4-FFF2-40B4-BE49-F238E27FC236}">
                <a16:creationId xmlns:a16="http://schemas.microsoft.com/office/drawing/2014/main" id="{69EE48BB-5D5D-4296-9EA0-ABD4AAA6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Train, coach, component, type, severity, status.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0F4E42C5-146F-468E-A1D2-48E0B392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2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67DDD794-F0D2-4072-8C39-AD99BC04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Transcript rows</a:t>
            </a:r>
          </a:p>
        </p:txBody>
      </p:sp>
      <p:sp>
        <p:nvSpPr>
          <p:cNvPr id="13" name="bullet-body">
            <a:extLst xmlns:a="http://schemas.openxmlformats.org/drawingml/2006/main">
              <a:ext uri="{FF2B5EF4-FFF2-40B4-BE49-F238E27FC236}">
                <a16:creationId xmlns:a16="http://schemas.microsoft.com/office/drawing/2014/main" id="{CA272AC7-2BCC-4E10-89A8-8403AEF4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Raw transcript and translated English text.</a:t>
            </a:r>
          </a:p>
        </p:txBody>
      </p:sp>
      <p:sp>
        <p:nvSpPr>
          <p:cNvPr id="14" name="bullet-dot">
            <a:extLst xmlns:a="http://schemas.openxmlformats.org/drawingml/2006/main">
              <a:ext uri="{FF2B5EF4-FFF2-40B4-BE49-F238E27FC236}">
                <a16:creationId xmlns:a16="http://schemas.microsoft.com/office/drawing/2014/main" id="{53EE2718-9AE8-417A-939A-85167B94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5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FF1BF260-9AA7-414B-8416-0971F8B0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Media metadata</a:t>
            </a:r>
          </a:p>
        </p:txBody>
      </p:sp>
      <p:sp>
        <p:nvSpPr>
          <p:cNvPr id="16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C2DB191-F562-4BEB-AFBF-690A6A0C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Original filename and relative file path.</a:t>
            </a:r>
          </a:p>
        </p:txBody>
      </p:sp>
      <p:sp>
        <p:nvSpPr>
          <p:cNvPr id="17" name="bullet-dot">
            <a:extLst xmlns:a="http://schemas.openxmlformats.org/drawingml/2006/main">
              <a:ext uri="{FF2B5EF4-FFF2-40B4-BE49-F238E27FC236}">
                <a16:creationId xmlns:a16="http://schemas.microsoft.com/office/drawing/2014/main" id="{10867AD8-1CB5-4581-B334-236BA7A4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19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8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844E7C9A-56C7-4F8D-A5A1-A056A07B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198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Status history</a:t>
            </a:r>
          </a:p>
        </p:txBody>
      </p:sp>
      <p:sp>
        <p:nvSpPr>
          <p:cNvPr id="19" name="bullet-body">
            <a:extLst xmlns:a="http://schemas.openxmlformats.org/drawingml/2006/main">
              <a:ext uri="{FF2B5EF4-FFF2-40B4-BE49-F238E27FC236}">
                <a16:creationId xmlns:a16="http://schemas.microsoft.com/office/drawing/2014/main" id="{57AFFE63-BCFC-4DF4-9BF1-334EC55E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436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Every supervisor status change with remarks.</a:t>
            </a:r>
          </a:p>
        </p:txBody>
      </p:sp>
      <p:sp>
        <p:nvSpPr>
          <p:cNvPr id="20" name="file-storage">
            <a:extLst xmlns:a="http://schemas.openxmlformats.org/drawingml/2006/main">
              <a:ext uri="{FF2B5EF4-FFF2-40B4-BE49-F238E27FC236}">
                <a16:creationId xmlns:a16="http://schemas.microsoft.com/office/drawing/2014/main" id="{89DA3438-3311-4CF2-952E-0F7BBD60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903220"/>
            <a:ext cx="8181975" cy="6412230"/>
          </a:xfrm>
          <a:prstGeom xmlns:a="http://schemas.openxmlformats.org/drawingml/2006/main" prst="roundRect">
            <a:avLst>
              <a:gd name="adj" fmla="val 267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chip">
            <a:extLst xmlns:a="http://schemas.openxmlformats.org/drawingml/2006/main">
              <a:ext uri="{FF2B5EF4-FFF2-40B4-BE49-F238E27FC236}">
                <a16:creationId xmlns:a16="http://schemas.microsoft.com/office/drawing/2014/main" id="{7A171F0B-8B27-4C00-A8D4-544D0907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88970"/>
            <a:ext cx="24765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>
              <a:alpha val="9412"/>
            </a:srgbClr>
          </a:solidFill>
        </p:spPr>
      </p:sp>
      <p:sp>
        <p:nvSpPr>
          <p:cNvPr id="22" name="chip-label">
            <a:extLst xmlns:a="http://schemas.openxmlformats.org/drawingml/2006/main">
              <a:ext uri="{FF2B5EF4-FFF2-40B4-BE49-F238E27FC236}">
                <a16:creationId xmlns:a16="http://schemas.microsoft.com/office/drawing/2014/main" id="{6E419660-EF81-4415-A7C2-8D46F30C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Uploads folder</a:t>
            </a:r>
          </a:p>
        </p:txBody>
      </p:sp>
      <p:sp>
        <p:nvSpPr>
          <p:cNvPr id="23" name="bullet-dot">
            <a:extLst xmlns:a="http://schemas.openxmlformats.org/drawingml/2006/main">
              <a:ext uri="{FF2B5EF4-FFF2-40B4-BE49-F238E27FC236}">
                <a16:creationId xmlns:a16="http://schemas.microsoft.com/office/drawing/2014/main" id="{DB0237F5-F901-43D9-B128-62A97EE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24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3181BC50-BB88-4495-A40C-4C9188F2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719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Audio files</a:t>
            </a:r>
          </a:p>
        </p:txBody>
      </p:sp>
      <p:sp>
        <p:nvSpPr>
          <p:cNvPr id="2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F50F735-5C79-403C-AC36-E4DEB268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148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Stored under backend/uploads/audio.</a:t>
            </a:r>
          </a:p>
        </p:txBody>
      </p:sp>
      <p:sp>
        <p:nvSpPr>
          <p:cNvPr id="26" name="bullet-dot">
            <a:extLst xmlns:a="http://schemas.openxmlformats.org/drawingml/2006/main">
              <a:ext uri="{FF2B5EF4-FFF2-40B4-BE49-F238E27FC236}">
                <a16:creationId xmlns:a16="http://schemas.microsoft.com/office/drawing/2014/main" id="{96C89B0C-0BA0-43A2-B40C-C26CED74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14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27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4D2B6252-7270-43C1-82B5-1C106889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148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Image files</a:t>
            </a:r>
          </a:p>
        </p:txBody>
      </p:sp>
      <p:sp>
        <p:nvSpPr>
          <p:cNvPr id="28" name="bullet-body">
            <a:extLst xmlns:a="http://schemas.openxmlformats.org/drawingml/2006/main">
              <a:ext uri="{FF2B5EF4-FFF2-40B4-BE49-F238E27FC236}">
                <a16:creationId xmlns:a16="http://schemas.microsoft.com/office/drawing/2014/main" id="{174757E4-59C1-4CF0-ABA9-69EBDF52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577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Stored under backend/uploads/images.</a:t>
            </a:r>
          </a:p>
        </p:txBody>
      </p:sp>
      <p:sp>
        <p:nvSpPr>
          <p:cNvPr id="29" name="bullet-dot">
            <a:extLst xmlns:a="http://schemas.openxmlformats.org/drawingml/2006/main">
              <a:ext uri="{FF2B5EF4-FFF2-40B4-BE49-F238E27FC236}">
                <a16:creationId xmlns:a16="http://schemas.microsoft.com/office/drawing/2014/main" id="{4FDB8668-314D-4372-A4D0-4BC1B04B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57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30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0DDC9D79-A779-4AED-8255-1246D726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578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Safe filenames</a:t>
            </a:r>
          </a:p>
        </p:txBody>
      </p:sp>
      <p:sp>
        <p:nvSpPr>
          <p:cNvPr id="31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6C42D0C-FF55-43BF-A55C-A1CE251B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6007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UUID prefix and extension validation.</a:t>
            </a:r>
          </a:p>
        </p:txBody>
      </p:sp>
      <p:sp>
        <p:nvSpPr>
          <p:cNvPr id="32" name="bullet-dot">
            <a:extLst xmlns:a="http://schemas.openxmlformats.org/drawingml/2006/main">
              <a:ext uri="{FF2B5EF4-FFF2-40B4-BE49-F238E27FC236}">
                <a16:creationId xmlns:a16="http://schemas.microsoft.com/office/drawing/2014/main" id="{D5AC7D97-867E-429A-A846-29FA264E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19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33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D74202E6-E8D5-439B-B6D5-70B6E330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0198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Static serving</a:t>
            </a:r>
          </a:p>
        </p:txBody>
      </p:sp>
      <p:sp>
        <p:nvSpPr>
          <p:cNvPr id="34" name="bullet-body">
            <a:extLst xmlns:a="http://schemas.openxmlformats.org/drawingml/2006/main">
              <a:ext uri="{FF2B5EF4-FFF2-40B4-BE49-F238E27FC236}">
                <a16:creationId xmlns:a16="http://schemas.microsoft.com/office/drawing/2014/main" id="{72C4CB59-2419-4697-B505-53E62D5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3436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FastAPI mounts /uploads so UI can play or preview evidence.</a:t>
            </a:r>
          </a:p>
        </p:txBody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F73D1CE-F8D4-4CBB-B68D-D19E0AD9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9E90810-610E-4DEE-86E5-7602C48C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209937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2DC6A38-0C13-41AF-92FF-DCFABB0E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2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28C90FF4-A0F0-4B99-883B-A5BAD776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20000"/>
            </a:srgbClr>
          </a:solidFill>
        </p:spPr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C299A40-6752-47DB-B091-4F7C026E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1630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EXTRACTION INTELLIGENCE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B823E5-2A60-4BE7-8658-B03E3979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9867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Fast rules first, optional AI second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3BE3118-DDD8-40AB-B435-84F4C56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9410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BD5E1"/>
                </a:solidFill>
              </a:defRPr>
            </a:pPr>
            <a:r>
              <a:rPr sz="2250">
                <a:solidFill>
                  <a:srgbClr val="CBD5E1"/>
                </a:solidFill>
              </a:rPr>
              <a:t>The project avoids blocking the MVP on heavy models while still allowing smarter refinement.</a:t>
            </a:r>
          </a:p>
        </p:txBody>
      </p:sp>
      <p:sp>
        <p:nvSpPr>
          <p:cNvPr id="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FE255E0-E5F3-4FDD-B9DE-50BD2F55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01957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FD01D2B-2868-4A9F-B32A-16632A7F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F31B1EF-12DC-481F-BFCF-ECC873F8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RULE-BASED EXTRACTOR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D3513B-0E9E-4428-9348-5E3B666B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19443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extractor converts known railway phrases into structured fields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8A47DE6-C863-44F5-83F0-AB1C79E1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750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It does not guess from audio. It receives text and applies transparent rules.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3615798E-27B3-41ED-B315-2B9E5B65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3220"/>
            <a:ext cx="8201025" cy="3110865"/>
          </a:xfrm>
          <a:prstGeom xmlns:a="http://schemas.openxmlformats.org/drawingml/2006/main" prst="roundRect">
            <a:avLst>
              <a:gd name="adj" fmla="val 55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F24A034-71CC-45D0-A6BD-CEC24FDA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102F61D7-AE6A-4B54-AC22-9192DFE8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Coach detection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D3D2E093-0BDE-43CF-9015-85A190D4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Regex detects S1/S2/S3, B1/B2, A1/A2, D1, C1 and normalizes values like S-3 to S3.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58A37453-1047-449E-AF51-766316EF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03220"/>
            <a:ext cx="8201025" cy="3110865"/>
          </a:xfrm>
          <a:prstGeom xmlns:a="http://schemas.openxmlformats.org/drawingml/2006/main" prst="roundRect">
            <a:avLst>
              <a:gd name="adj" fmla="val 55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3EB4A03F-CA08-4451-BBD4-DA443DFD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F86B9CCB-282B-4D75-91F1-0CDA1649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Component rules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474E09DB-5E40-4829-9604-17539238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433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Door, brake, wheel, electrical, seat, toilet/water, window, and leakage keywords map to component names.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AFCB4F25-CC03-4735-B828-94A8FA1A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4585"/>
            <a:ext cx="8201025" cy="3110865"/>
          </a:xfrm>
          <a:prstGeom xmlns:a="http://schemas.openxmlformats.org/drawingml/2006/main" prst="roundRect">
            <a:avLst>
              <a:gd name="adj" fmla="val 55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BF53236-CD86-47F7-889F-2FA2C350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389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4B717FE7-4758-444F-A090-B52FCD22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389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Severity rules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D5DBCE9A-5C3A-44DB-BB84-4418814F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Brake leakage, wheel crack, smoke, fire, and electrical spark become Critical; damaged/not closing becomes Medium.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4B4DBD14-C60B-4B26-B1B8-017CC66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204585"/>
            <a:ext cx="8201025" cy="3110865"/>
          </a:xfrm>
          <a:prstGeom xmlns:a="http://schemas.openxmlformats.org/drawingml/2006/main" prst="roundRect">
            <a:avLst>
              <a:gd name="adj" fmla="val 55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127D6A0-84D0-46E7-B1B6-3BA5A5E6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4389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250C8F54-8248-40B7-A90F-6C7D4905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4389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Defect type rules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7188ADF2-C95D-452F-9C11-63006F6C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8580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The extractor returns short labels like Door not closing, Brake leakage, Electrical spark, or Seat damage.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3AC27C6-D688-42E5-ACF7-CD777CD0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F12ABE1-248E-41E6-AB4C-890B6373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998959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AC44D93-22F7-42AA-AECE-A9E2203A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C33EA1-594E-42CB-BBC0-CFF9DE22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WHISPER SPEECH-TO-TEXT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1351D2-29BF-4F22-BB82-B636EC52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16586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Whisper is optional, local backend speech-to-text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92D0AA6-F554-4D64-A303-BF1FB450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9391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When enabled, it converts audio into text and can translate Hindi/Kannada audio into English.</a:t>
            </a:r>
          </a:p>
        </p:txBody>
      </p:sp>
      <p:sp>
        <p:nvSpPr>
          <p:cNvPr id="5" name="flow-step">
            <a:extLst xmlns:a="http://schemas.openxmlformats.org/drawingml/2006/main">
              <a:ext uri="{FF2B5EF4-FFF2-40B4-BE49-F238E27FC236}">
                <a16:creationId xmlns:a16="http://schemas.microsoft.com/office/drawing/2014/main" id="{EF13544E-1E45-4970-8CA3-41C13BD4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3220"/>
            <a:ext cx="2743200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hip">
            <a:extLst xmlns:a="http://schemas.openxmlformats.org/drawingml/2006/main">
              <a:ext uri="{FF2B5EF4-FFF2-40B4-BE49-F238E27FC236}">
                <a16:creationId xmlns:a16="http://schemas.microsoft.com/office/drawing/2014/main" id="{160F441B-999A-47B5-8F62-0B7CDA41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372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>
              <a:alpha val="9412"/>
            </a:srgbClr>
          </a:solidFill>
        </p:spPr>
      </p:sp>
      <p:sp>
        <p:nvSpPr>
          <p:cNvPr id="7" name="chip-label">
            <a:extLst xmlns:a="http://schemas.openxmlformats.org/drawingml/2006/main">
              <a:ext uri="{FF2B5EF4-FFF2-40B4-BE49-F238E27FC236}">
                <a16:creationId xmlns:a16="http://schemas.microsoft.com/office/drawing/2014/main" id="{1246DC3B-99C7-4BBD-B3BA-FBA443C2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813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Record/upload</a:t>
            </a:r>
          </a:p>
        </p:txBody>
      </p:sp>
      <p:sp>
        <p:nvSpPr>
          <p:cNvPr id="8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A824D659-E2B7-4A5C-86CD-05F37DD5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32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Browser creates or selects audio.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A08D4266-2782-4E9B-BFD7-A80229A5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10" name="flow-step">
            <a:extLst xmlns:a="http://schemas.openxmlformats.org/drawingml/2006/main">
              <a:ext uri="{FF2B5EF4-FFF2-40B4-BE49-F238E27FC236}">
                <a16:creationId xmlns:a16="http://schemas.microsoft.com/office/drawing/2014/main" id="{20A9CEFC-759F-451B-9349-AB32A4E7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3220"/>
            <a:ext cx="2743200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chip">
            <a:extLst xmlns:a="http://schemas.openxmlformats.org/drawingml/2006/main">
              <a:ext uri="{FF2B5EF4-FFF2-40B4-BE49-F238E27FC236}">
                <a16:creationId xmlns:a16="http://schemas.microsoft.com/office/drawing/2014/main" id="{37E6E28B-C729-4022-9216-DE56795F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9372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>
              <a:alpha val="9412"/>
            </a:srgbClr>
          </a:solidFill>
        </p:spPr>
      </p:sp>
      <p:sp>
        <p:nvSpPr>
          <p:cNvPr id="12" name="chip-label">
            <a:extLst xmlns:a="http://schemas.openxmlformats.org/drawingml/2006/main">
              <a:ext uri="{FF2B5EF4-FFF2-40B4-BE49-F238E27FC236}">
                <a16:creationId xmlns:a16="http://schemas.microsoft.com/office/drawing/2014/main" id="{1F3DA90B-3021-40A2-8A99-ED154994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813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Upload</a:t>
            </a:r>
          </a:p>
        </p:txBody>
      </p:sp>
      <p:sp>
        <p:nvSpPr>
          <p:cNvPr id="13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C7245ED3-5BDB-4B10-976C-40795D8D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62350"/>
            <a:ext cx="232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Audio saved in backend uploads.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66616160-7A8C-4329-B72B-D253F9B9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956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15" name="flow-step">
            <a:extLst xmlns:a="http://schemas.openxmlformats.org/drawingml/2006/main">
              <a:ext uri="{FF2B5EF4-FFF2-40B4-BE49-F238E27FC236}">
                <a16:creationId xmlns:a16="http://schemas.microsoft.com/office/drawing/2014/main" id="{F26E258E-9070-4A7A-AD01-F065C006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03220"/>
            <a:ext cx="2743200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chip">
            <a:extLst xmlns:a="http://schemas.openxmlformats.org/drawingml/2006/main">
              <a:ext uri="{FF2B5EF4-FFF2-40B4-BE49-F238E27FC236}">
                <a16:creationId xmlns:a16="http://schemas.microsoft.com/office/drawing/2014/main" id="{4D02091C-75CE-48C9-A073-F4D9E20F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9372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9412"/>
            </a:srgbClr>
          </a:solidFill>
        </p:spPr>
      </p:sp>
      <p:sp>
        <p:nvSpPr>
          <p:cNvPr id="17" name="chip-label">
            <a:extLst xmlns:a="http://schemas.openxmlformats.org/drawingml/2006/main">
              <a:ext uri="{FF2B5EF4-FFF2-40B4-BE49-F238E27FC236}">
                <a16:creationId xmlns:a16="http://schemas.microsoft.com/office/drawing/2014/main" id="{5B378626-DCA5-4261-9D7D-5B8131A8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Transcribe</a:t>
            </a:r>
          </a:p>
        </p:txBody>
      </p:sp>
      <p:sp>
        <p:nvSpPr>
          <p:cNvPr id="18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B58EB489-EE70-45E9-B252-CCDBBED2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62350"/>
            <a:ext cx="232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Backend loads local Whisper model.</a:t>
            </a:r>
          </a:p>
        </p:txBody>
      </p:sp>
      <p:sp>
        <p:nvSpPr>
          <p:cNvPr id="19" name="flow-arrow">
            <a:extLst xmlns:a="http://schemas.openxmlformats.org/drawingml/2006/main">
              <a:ext uri="{FF2B5EF4-FFF2-40B4-BE49-F238E27FC236}">
                <a16:creationId xmlns:a16="http://schemas.microsoft.com/office/drawing/2014/main" id="{CB7AAD88-2146-4AC0-A7B1-5A8B12B4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8956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20" name="flow-step">
            <a:extLst xmlns:a="http://schemas.openxmlformats.org/drawingml/2006/main">
              <a:ext uri="{FF2B5EF4-FFF2-40B4-BE49-F238E27FC236}">
                <a16:creationId xmlns:a16="http://schemas.microsoft.com/office/drawing/2014/main" id="{C650620A-F5EF-473E-9400-6C5ED4A2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03220"/>
            <a:ext cx="2743200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chip">
            <a:extLst xmlns:a="http://schemas.openxmlformats.org/drawingml/2006/main">
              <a:ext uri="{FF2B5EF4-FFF2-40B4-BE49-F238E27FC236}">
                <a16:creationId xmlns:a16="http://schemas.microsoft.com/office/drawing/2014/main" id="{42416C29-8A4E-42C0-900B-66EAFF21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09372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9412"/>
            </a:srgbClr>
          </a:solidFill>
        </p:spPr>
      </p:sp>
      <p:sp>
        <p:nvSpPr>
          <p:cNvPr id="22" name="chip-label">
            <a:extLst xmlns:a="http://schemas.openxmlformats.org/drawingml/2006/main">
              <a:ext uri="{FF2B5EF4-FFF2-40B4-BE49-F238E27FC236}">
                <a16:creationId xmlns:a16="http://schemas.microsoft.com/office/drawing/2014/main" id="{BF3119B1-DE83-40EE-9E66-BE63A0B4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1813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Translate</a:t>
            </a:r>
          </a:p>
        </p:txBody>
      </p:sp>
      <p:sp>
        <p:nvSpPr>
          <p:cNvPr id="23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22F4EFA6-AA6B-4397-9893-2196E460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562350"/>
            <a:ext cx="232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Non-English speech becomes English text.</a:t>
            </a:r>
          </a:p>
        </p:txBody>
      </p:sp>
      <p:sp>
        <p:nvSpPr>
          <p:cNvPr id="24" name="flow-arrow">
            <a:extLst xmlns:a="http://schemas.openxmlformats.org/drawingml/2006/main">
              <a:ext uri="{FF2B5EF4-FFF2-40B4-BE49-F238E27FC236}">
                <a16:creationId xmlns:a16="http://schemas.microsoft.com/office/drawing/2014/main" id="{547A3BC5-8B0F-44DC-A26C-D15C5E8D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8956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25" name="flow-step">
            <a:extLst xmlns:a="http://schemas.openxmlformats.org/drawingml/2006/main">
              <a:ext uri="{FF2B5EF4-FFF2-40B4-BE49-F238E27FC236}">
                <a16:creationId xmlns:a16="http://schemas.microsoft.com/office/drawing/2014/main" id="{48BE2317-54A3-4340-975F-482FDE5B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2903220"/>
            <a:ext cx="2743200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hip">
            <a:extLst xmlns:a="http://schemas.openxmlformats.org/drawingml/2006/main">
              <a:ext uri="{FF2B5EF4-FFF2-40B4-BE49-F238E27FC236}">
                <a16:creationId xmlns:a16="http://schemas.microsoft.com/office/drawing/2014/main" id="{5EE5A371-9B18-40C2-9C75-DEF8471D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09372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>
              <a:alpha val="9412"/>
            </a:srgbClr>
          </a:solidFill>
        </p:spPr>
      </p:sp>
      <p:sp>
        <p:nvSpPr>
          <p:cNvPr id="27" name="chip-label">
            <a:extLst xmlns:a="http://schemas.openxmlformats.org/drawingml/2006/main">
              <a:ext uri="{FF2B5EF4-FFF2-40B4-BE49-F238E27FC236}">
                <a16:creationId xmlns:a16="http://schemas.microsoft.com/office/drawing/2014/main" id="{3EEBCEFF-87B3-4E82-81D9-43B218F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31813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Extract</a:t>
            </a:r>
          </a:p>
        </p:txBody>
      </p:sp>
      <p:sp>
        <p:nvSpPr>
          <p:cNvPr id="28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B6CFCAF8-5EC1-4439-9043-579E294F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562350"/>
            <a:ext cx="232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Rules structure the English text.</a:t>
            </a:r>
          </a:p>
        </p:txBody>
      </p:sp>
      <p:sp>
        <p:nvSpPr>
          <p:cNvPr id="29" name="whisper-note">
            <a:extLst xmlns:a="http://schemas.openxmlformats.org/drawingml/2006/main">
              <a:ext uri="{FF2B5EF4-FFF2-40B4-BE49-F238E27FC236}">
                <a16:creationId xmlns:a16="http://schemas.microsoft.com/office/drawing/2014/main" id="{7D7C5A6F-A8D1-45B1-9169-89C7E18B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29125"/>
            <a:ext cx="1668780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body-text">
            <a:extLst xmlns:a="http://schemas.openxmlformats.org/drawingml/2006/main">
              <a:ext uri="{FF2B5EF4-FFF2-40B4-BE49-F238E27FC236}">
                <a16:creationId xmlns:a16="http://schemas.microsoft.com/office/drawing/2014/main" id="{3F44F7CF-EFA9-4CC3-ADD0-27D7AF59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16116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Important: Whisper is not a cloud service in this MVP. It runs on the backend machine using local model files. If ENABLE_WHISPER=false or Whisper is not installed, the app still works with typed transcripts.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22CAC7-1004-4E35-845C-6BD4109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E9B4A3F-6999-461B-83FF-034D6716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9867283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0B88EC7-2C18-418D-9E63-C8DC3012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2C60BF0-FECB-49D9-97E2-0EB83D50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MULTILINGUAL HANDLING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870EEE-F6B5-4738-A07E-08E99248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39446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Hindi and Kannada audio are translated into English before extraction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2D1BF1-E379-4DE9-B030-48D7B334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9010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extractor rules are English-focused, so translation gives it a consistent input language.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0514E0E1-5D43-4854-A6F6-8EF0287D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3220"/>
            <a:ext cx="5397500" cy="6412230"/>
          </a:xfrm>
          <a:prstGeom xmlns:a="http://schemas.openxmlformats.org/drawingml/2006/main" prst="roundRect">
            <a:avLst>
              <a:gd name="adj" fmla="val 31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2C86E6A-CFAD-4BDF-8527-D08988B6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D57A1A9A-F2D4-4483-9598-8F31C6B5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Auto detect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36AA139C-15EB-492C-BB52-4A3579C9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Useful for quick demos, but less reliable when audio is noisy or language is mixed.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0DE67AB4-2EF3-4F80-86E8-8E912155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903220"/>
            <a:ext cx="5397500" cy="6412230"/>
          </a:xfrm>
          <a:prstGeom xmlns:a="http://schemas.openxmlformats.org/drawingml/2006/main" prst="roundRect">
            <a:avLst>
              <a:gd name="adj" fmla="val 31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E085EEB-3759-4664-8EEC-2A75A50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637C0DCC-146C-4980-803F-029DB85F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Select Hindi/Kannada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5C8A5283-96ED-45D8-93BB-E01C8991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The UI lets the user choose language so the backend can use the stronger non-English Whisper model.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92FFB70D-A9AB-4B08-8680-14DD47CF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2903220"/>
            <a:ext cx="5397500" cy="6412230"/>
          </a:xfrm>
          <a:prstGeom xmlns:a="http://schemas.openxmlformats.org/drawingml/2006/main" prst="roundRect">
            <a:avLst>
              <a:gd name="adj" fmla="val 31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6610B58-C24C-4E35-AB14-031411F6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0D45CBEA-E515-4BAA-A132-BC684B87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124200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English output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4B98781A-3F2A-48E6-9C49-AAA14FD2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43300"/>
            <a:ext cx="4857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The backend saves raw_transcript and translated_text, then extracts from the best English text available.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A60B60-ECD2-442E-98B4-0D334205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449BC9-6DC5-4552-A909-3F260767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7421714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A67E432-93ED-4949-BB10-48CBBEB0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E4C38FF-7E15-48FD-85E7-46ECDD23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OPTIONAL OLLAMA LLM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EBB90-9850-4D1F-9539-0149A49A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26492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LLM is used as a refinement layer, not the default critical path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CFF916F-8F43-4204-B4F3-6ACC9256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991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It can interpret more flexible wording, but the app keeps rule extraction as a safe fallback.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D4CFADE9-40A8-43BD-B520-DCF9FE0B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3220"/>
            <a:ext cx="8191500" cy="3091815"/>
          </a:xfrm>
          <a:prstGeom xmlns:a="http://schemas.openxmlformats.org/drawingml/2006/main" prst="roundRect">
            <a:avLst>
              <a:gd name="adj" fmla="val 554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44616D3-CD47-423A-A74E-C0383645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2BDBCFEC-23E6-495F-84F4-F03978D2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7448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Local model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90E81C99-879F-47A1-AECB-86F914B2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7658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Ollama runs on localhost with llama3.2:latest. No cloud LLM call is required in this setup.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EB9A75AD-297D-490A-85C7-C9D4314F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03220"/>
            <a:ext cx="8191500" cy="3091815"/>
          </a:xfrm>
          <a:prstGeom xmlns:a="http://schemas.openxmlformats.org/drawingml/2006/main" prst="roundRect">
            <a:avLst>
              <a:gd name="adj" fmla="val 554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07E2CC0F-3C46-49AC-A6F0-3797EA4A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FF93B017-854B-4067-860D-B401564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7448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Structured JSON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68952476-5207-480B-B972-4FB486E6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43300"/>
            <a:ext cx="7658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The backend asks the LLM to return only coach, component, type, severity, and description.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733F4E5D-C3C5-4253-BB0F-5BE77191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23635"/>
            <a:ext cx="8191500" cy="3091815"/>
          </a:xfrm>
          <a:prstGeom xmlns:a="http://schemas.openxmlformats.org/drawingml/2006/main" prst="roundRect">
            <a:avLst>
              <a:gd name="adj" fmla="val 554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DF585BC-D83F-440D-8E6D-D7F39E10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389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950348B3-0401-4A5E-86F5-77E5071F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57950"/>
            <a:ext cx="7448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Validation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3C2876E4-5E58-42E8-A3DD-F1A879A4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77050"/>
            <a:ext cx="7658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Pydantic validates the LLM output and rejects unsupported component/severity values.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8C88DA64-5C86-4DC5-9387-342F5FE7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223635"/>
            <a:ext cx="8191500" cy="3091815"/>
          </a:xfrm>
          <a:prstGeom xmlns:a="http://schemas.openxmlformats.org/drawingml/2006/main" prst="roundRect">
            <a:avLst>
              <a:gd name="adj" fmla="val 554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3FC5FD3-037A-481B-895E-A4B12AA3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4389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260E04C7-4FFB-4E4C-9D24-9A632C17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457950"/>
            <a:ext cx="7448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Fallback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4AA4E645-26FC-4C95-AE3C-0CB84E5A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877050"/>
            <a:ext cx="7658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If Ollama is slow, unavailable, or invalid, rule-based extraction remains the reliable result.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A63613E-8290-490D-B831-A8E47A43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4AB0B24-1AF2-4864-B98D-C96AD810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7605951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C025188-1848-4D68-B5EF-F382526D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AF1599-F027-4EDF-ACFB-EB0576B1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WHY FAST-FIRST MATTERS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02242F-98B5-452B-969D-B7C6AE80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34874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A field workflow should not wait for heavy AI when rules can give a good first result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966B3E0-65D1-42D1-9BC9-18DAAA34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7962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project separates immediate logging from optional intelligence refinement.</a:t>
            </a:r>
          </a:p>
        </p:txBody>
      </p:sp>
      <p:sp>
        <p:nvSpPr>
          <p:cNvPr id="5" name="fast-path-panel">
            <a:extLst xmlns:a="http://schemas.openxmlformats.org/drawingml/2006/main">
              <a:ext uri="{FF2B5EF4-FFF2-40B4-BE49-F238E27FC236}">
                <a16:creationId xmlns:a16="http://schemas.microsoft.com/office/drawing/2014/main" id="{0D844535-F41B-4E11-81BE-F0C0EACC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8181975" cy="61150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hip">
            <a:extLst xmlns:a="http://schemas.openxmlformats.org/drawingml/2006/main">
              <a:ext uri="{FF2B5EF4-FFF2-40B4-BE49-F238E27FC236}">
                <a16:creationId xmlns:a16="http://schemas.microsoft.com/office/drawing/2014/main" id="{05AAA0BC-1860-49BA-A5BF-7EEE4D14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219075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>
              <a:alpha val="9412"/>
            </a:srgbClr>
          </a:solidFill>
        </p:spPr>
      </p:sp>
      <p:sp>
        <p:nvSpPr>
          <p:cNvPr id="7" name="chip-label">
            <a:extLst xmlns:a="http://schemas.openxmlformats.org/drawingml/2006/main">
              <a:ext uri="{FF2B5EF4-FFF2-40B4-BE49-F238E27FC236}">
                <a16:creationId xmlns:a16="http://schemas.microsoft.com/office/drawing/2014/main" id="{1978611E-84C1-4325-9CC3-E3C9A11B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1847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Default path</a:t>
            </a:r>
          </a:p>
        </p:txBody>
      </p:sp>
      <p:sp>
        <p:nvSpPr>
          <p:cNvPr id="8" name="bullet-dot">
            <a:extLst xmlns:a="http://schemas.openxmlformats.org/drawingml/2006/main">
              <a:ext uri="{FF2B5EF4-FFF2-40B4-BE49-F238E27FC236}">
                <a16:creationId xmlns:a16="http://schemas.microsoft.com/office/drawing/2014/main" id="{996C1D34-AE6B-4D96-9CE0-AAB42306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9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9B5EA4B6-B959-4BB7-83EB-EA0ACAAF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Typed transcript</a:t>
            </a:r>
          </a:p>
        </p:txBody>
      </p:sp>
      <p:sp>
        <p:nvSpPr>
          <p:cNvPr id="10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A31F7A8-D23F-4945-A264-77939E14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005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Immediate defect creation.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24F85823-E670-433D-8DD1-6EC551F7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2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66B3F8FB-A25C-439B-9C5C-E79C24D5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96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Rule extraction</a:t>
            </a:r>
          </a:p>
        </p:txBody>
      </p:sp>
      <p:sp>
        <p:nvSpPr>
          <p:cNvPr id="13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0781F5B-1713-462D-B4F9-66185344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Fast coach/component/severity result.</a:t>
            </a:r>
          </a:p>
        </p:txBody>
      </p:sp>
      <p:sp>
        <p:nvSpPr>
          <p:cNvPr id="14" name="bullet-dot">
            <a:extLst xmlns:a="http://schemas.openxmlformats.org/drawingml/2006/main">
              <a:ext uri="{FF2B5EF4-FFF2-40B4-BE49-F238E27FC236}">
                <a16:creationId xmlns:a16="http://schemas.microsoft.com/office/drawing/2014/main" id="{28C2BCD4-F5B3-481D-AA63-E3CF934E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5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D3AB761C-161B-4B37-9107-6B19C1C9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Media upload</a:t>
            </a:r>
          </a:p>
        </p:txBody>
      </p:sp>
      <p:sp>
        <p:nvSpPr>
          <p:cNvPr id="16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FC25295-E50C-453F-9A25-A5419DE6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Audio/image evidence attached.</a:t>
            </a:r>
          </a:p>
        </p:txBody>
      </p:sp>
      <p:sp>
        <p:nvSpPr>
          <p:cNvPr id="17" name="bullet-dot">
            <a:extLst xmlns:a="http://schemas.openxmlformats.org/drawingml/2006/main">
              <a:ext uri="{FF2B5EF4-FFF2-40B4-BE49-F238E27FC236}">
                <a16:creationId xmlns:a16="http://schemas.microsoft.com/office/drawing/2014/main" id="{2146ED52-C193-4092-A373-E3658B0B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305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8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112DDAE2-18ED-444D-930F-7AFCCEE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Dashboard update</a:t>
            </a:r>
          </a:p>
        </p:txBody>
      </p:sp>
      <p:sp>
        <p:nvSpPr>
          <p:cNvPr id="19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498F66B-B782-4782-AD78-B4197817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6484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Supervisor and manager can see it quickly.</a:t>
            </a:r>
          </a:p>
        </p:txBody>
      </p:sp>
      <p:sp>
        <p:nvSpPr>
          <p:cNvPr id="20" name="ai-path-panel">
            <a:extLst xmlns:a="http://schemas.openxmlformats.org/drawingml/2006/main">
              <a:ext uri="{FF2B5EF4-FFF2-40B4-BE49-F238E27FC236}">
                <a16:creationId xmlns:a16="http://schemas.microsoft.com/office/drawing/2014/main" id="{5BEC5740-5938-4DB7-B99F-158FCE6D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00400"/>
            <a:ext cx="8181975" cy="61150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chip">
            <a:extLst xmlns:a="http://schemas.openxmlformats.org/drawingml/2006/main">
              <a:ext uri="{FF2B5EF4-FFF2-40B4-BE49-F238E27FC236}">
                <a16:creationId xmlns:a16="http://schemas.microsoft.com/office/drawing/2014/main" id="{2B7049E9-7574-4B87-8742-FA33548F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86150"/>
            <a:ext cx="238125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9412"/>
            </a:srgbClr>
          </a:solidFill>
        </p:spPr>
      </p:sp>
      <p:sp>
        <p:nvSpPr>
          <p:cNvPr id="22" name="chip-label">
            <a:extLst xmlns:a="http://schemas.openxmlformats.org/drawingml/2006/main">
              <a:ext uri="{FF2B5EF4-FFF2-40B4-BE49-F238E27FC236}">
                <a16:creationId xmlns:a16="http://schemas.microsoft.com/office/drawing/2014/main" id="{844A59BB-3034-4BB3-BC6D-69AD2661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81400"/>
            <a:ext cx="2038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Optional AI path</a:t>
            </a:r>
          </a:p>
        </p:txBody>
      </p:sp>
      <p:sp>
        <p:nvSpPr>
          <p:cNvPr id="23" name="bullet-dot">
            <a:extLst xmlns:a="http://schemas.openxmlformats.org/drawingml/2006/main">
              <a:ext uri="{FF2B5EF4-FFF2-40B4-BE49-F238E27FC236}">
                <a16:creationId xmlns:a16="http://schemas.microsoft.com/office/drawing/2014/main" id="{52B1AD1E-76CD-4AC5-A161-000740E8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76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24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E798AB4C-6BA8-4B75-A942-D7C5FA0C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767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Whisper</a:t>
            </a:r>
          </a:p>
        </p:txBody>
      </p:sp>
      <p:sp>
        <p:nvSpPr>
          <p:cNvPr id="25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26BC86C-49F9-4B64-919E-8C2E84CD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005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Transcribes and translates audio when enabled.</a:t>
            </a:r>
          </a:p>
        </p:txBody>
      </p:sp>
      <p:sp>
        <p:nvSpPr>
          <p:cNvPr id="26" name="bullet-dot">
            <a:extLst xmlns:a="http://schemas.openxmlformats.org/drawingml/2006/main">
              <a:ext uri="{FF2B5EF4-FFF2-40B4-BE49-F238E27FC236}">
                <a16:creationId xmlns:a16="http://schemas.microsoft.com/office/drawing/2014/main" id="{0B5C57C4-8A53-48DF-AC59-BB19727E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196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27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09D7D3BF-4FE5-49E1-B4C5-99FF6DEE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196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Ollama</a:t>
            </a:r>
          </a:p>
        </p:txBody>
      </p:sp>
      <p:sp>
        <p:nvSpPr>
          <p:cNvPr id="28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C7A3394-EFD2-4D15-8A87-CACB3958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43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Improves extraction only when user requests it.</a:t>
            </a:r>
          </a:p>
        </p:txBody>
      </p:sp>
      <p:sp>
        <p:nvSpPr>
          <p:cNvPr id="29" name="bullet-dot">
            <a:extLst xmlns:a="http://schemas.openxmlformats.org/drawingml/2006/main">
              <a:ext uri="{FF2B5EF4-FFF2-40B4-BE49-F238E27FC236}">
                <a16:creationId xmlns:a16="http://schemas.microsoft.com/office/drawing/2014/main" id="{E2F7A178-DBD6-454E-9C12-190CB58E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62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30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F64486CE-8C58-4A49-8223-8F81DB79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6260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Confidence guard</a:t>
            </a:r>
          </a:p>
        </p:txBody>
      </p:sp>
      <p:sp>
        <p:nvSpPr>
          <p:cNvPr id="31" name="bullet-body">
            <a:extLst xmlns:a="http://schemas.openxmlformats.org/drawingml/2006/main">
              <a:ext uri="{FF2B5EF4-FFF2-40B4-BE49-F238E27FC236}">
                <a16:creationId xmlns:a16="http://schemas.microsoft.com/office/drawing/2014/main" id="{B35B224C-65E6-4B4E-89FB-695AE170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9055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Weak transcription avoids overwriting defect fields.</a:t>
            </a:r>
          </a:p>
        </p:txBody>
      </p:sp>
      <p:sp>
        <p:nvSpPr>
          <p:cNvPr id="32" name="bullet-dot">
            <a:extLst xmlns:a="http://schemas.openxmlformats.org/drawingml/2006/main">
              <a:ext uri="{FF2B5EF4-FFF2-40B4-BE49-F238E27FC236}">
                <a16:creationId xmlns:a16="http://schemas.microsoft.com/office/drawing/2014/main" id="{89BCF395-5DA3-4C29-B600-E7BA6C9A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05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33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C6DD61F1-BF1C-42D5-8770-7213C211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3055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Fallback</a:t>
            </a:r>
          </a:p>
        </p:txBody>
      </p:sp>
      <p:sp>
        <p:nvSpPr>
          <p:cNvPr id="34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617E918-9A87-4DEF-B576-B5A011E3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6484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Rules protect the demo if local AI is slow.</a:t>
            </a:r>
          </a:p>
        </p:txBody>
      </p:sp>
      <p:sp>
        <p:nvSpPr>
          <p:cNvPr id="3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535CD06-5C09-4C02-9B64-A0AEDE83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192F2F-357A-4176-AC91-345ABEEB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8269393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CE64E9F-0FA6-4D3A-AEF4-ABC2FCD2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2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93761C47-D1B0-456A-8249-F878D12B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>
              <a:alpha val="20000"/>
            </a:srgbClr>
          </a:solidFill>
        </p:spPr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4A2235D-CC15-47C2-8EDF-B2B7A316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1630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FRONTEND DESIGN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F604A2-5213-4E55-BFBF-1DCAA50B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107442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The UI is role-based and demo-ready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73E4E2-51E3-4E6B-9A8E-034AC1D2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7258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BD5E1"/>
                </a:solidFill>
              </a:defRPr>
            </a:pPr>
            <a:r>
              <a:rPr sz="2250">
                <a:solidFill>
                  <a:srgbClr val="CBD5E1"/>
                </a:solidFill>
              </a:rPr>
              <a:t>Each page is designed around what that user needs to do next.</a:t>
            </a:r>
          </a:p>
        </p:txBody>
      </p:sp>
      <p:sp>
        <p:nvSpPr>
          <p:cNvPr id="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358E4981-CB2F-436C-8940-FE92863A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468800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D6C23AE-7CB2-44F8-A70C-046C3EA5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52D417E-3354-4AB4-A21B-6D4E903B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FRONTEND STRUCTURE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BEA131-9747-4C66-9E2A-8B69A477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21348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Next.js pages are supported by reusable dashboard components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B4C316-2D6F-4A3F-A13B-49CB8BDE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134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API client centralizes backend calls so pages stay focused on user experience.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75043E56-A62C-49AE-A2C4-7FFD9F92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8201025" cy="1911350"/>
          </a:xfrm>
          <a:prstGeom xmlns:a="http://schemas.openxmlformats.org/drawingml/2006/main" prst="roundRect">
            <a:avLst>
              <a:gd name="adj" fmla="val 897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3F5A6076-BF2D-4DFA-B349-39E7B983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D69625FF-C2E3-416A-B692-787BDF83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app/inspector/page.tsx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9D771FB1-8CCE-48C8-808D-861DC72A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Inspector workspace for creating defects from transcript/audio/image evidence.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A6C6BBFD-B540-443C-A91E-4ABD2315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00400"/>
            <a:ext cx="8201025" cy="1911350"/>
          </a:xfrm>
          <a:prstGeom xmlns:a="http://schemas.openxmlformats.org/drawingml/2006/main" prst="roundRect">
            <a:avLst>
              <a:gd name="adj" fmla="val 897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53715A9-9F70-4CDE-B706-FBFDB40E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FC561D10-671D-4E78-A180-6A8E3018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29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app/supervisor/page.tsx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3C2A8FAB-94E3-4FF7-8432-A01788B3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481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Supervisor workspace for filtering, reviewing media, transcribing evidence, and updating status.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72A783E3-9141-4C6C-A60F-24A7EBAC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02250"/>
            <a:ext cx="8201025" cy="1911350"/>
          </a:xfrm>
          <a:prstGeom xmlns:a="http://schemas.openxmlformats.org/drawingml/2006/main" prst="roundRect">
            <a:avLst>
              <a:gd name="adj" fmla="val 897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018E2B8A-D482-4174-939C-7525C784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6623246F-4904-4232-9938-F2D1B521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5245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app/manager/page.tsx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36F6333A-D2F6-49F7-944C-673A49F3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Manager analytics view with summary cards, component buckets, status buckets, and critical defects.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38602DB6-685D-4733-9158-FCD74530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302250"/>
            <a:ext cx="8201025" cy="1911350"/>
          </a:xfrm>
          <a:prstGeom xmlns:a="http://schemas.openxmlformats.org/drawingml/2006/main" prst="roundRect">
            <a:avLst>
              <a:gd name="adj" fmla="val 897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33BFD642-B2CD-41BD-9A1A-A3C9438A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245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927CF051-A789-4ECD-A6EF-8D25A105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5245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components/*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85D86465-85E2-4E39-A7D4-545A534E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9436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AppShell, Sidebar, DefectForm, DefectTable, AudioRecorder, ImageUpload, StatCard, LoadingBlock, EmptyState.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F9D2B8D5-F6E6-4698-BD91-BC9AFCB3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04100"/>
            <a:ext cx="8201025" cy="1911350"/>
          </a:xfrm>
          <a:prstGeom xmlns:a="http://schemas.openxmlformats.org/drawingml/2006/main" prst="roundRect">
            <a:avLst>
              <a:gd name="adj" fmla="val 897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04A17587-6291-47F8-8D35-7D7EFFD3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20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23" name="card-title">
            <a:extLst xmlns:a="http://schemas.openxmlformats.org/drawingml/2006/main">
              <a:ext uri="{FF2B5EF4-FFF2-40B4-BE49-F238E27FC236}">
                <a16:creationId xmlns:a16="http://schemas.microsoft.com/office/drawing/2014/main" id="{9385AAC5-DD68-498D-BEEF-AEE0F4F7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6390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lib/api.ts</a:t>
            </a:r>
          </a:p>
        </p:txBody>
      </p:sp>
      <p:sp>
        <p:nvSpPr>
          <p:cNvPr id="24" name="card-body">
            <a:extLst xmlns:a="http://schemas.openxmlformats.org/drawingml/2006/main">
              <a:ext uri="{FF2B5EF4-FFF2-40B4-BE49-F238E27FC236}">
                <a16:creationId xmlns:a16="http://schemas.microsoft.com/office/drawing/2014/main" id="{0107A454-5E77-4E88-A15C-06805BE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5815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Single API client for health, demo users, defects, media, transcription, extraction, and dashboard endpoints.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E51D5492-B123-413C-9AA9-AC3893FB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404100"/>
            <a:ext cx="8201025" cy="1911350"/>
          </a:xfrm>
          <a:prstGeom xmlns:a="http://schemas.openxmlformats.org/drawingml/2006/main" prst="roundRect">
            <a:avLst>
              <a:gd name="adj" fmla="val 897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897892B-3525-4056-B260-EB15061C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620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27" name="card-title">
            <a:extLst xmlns:a="http://schemas.openxmlformats.org/drawingml/2006/main">
              <a:ext uri="{FF2B5EF4-FFF2-40B4-BE49-F238E27FC236}">
                <a16:creationId xmlns:a16="http://schemas.microsoft.com/office/drawing/2014/main" id="{319C1FC6-27B4-434C-B47F-E66A34F7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6390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lib/types.ts</a:t>
            </a:r>
          </a:p>
        </p:txBody>
      </p:sp>
      <p:sp>
        <p:nvSpPr>
          <p:cNvPr id="28" name="card-body">
            <a:extLst xmlns:a="http://schemas.openxmlformats.org/drawingml/2006/main">
              <a:ext uri="{FF2B5EF4-FFF2-40B4-BE49-F238E27FC236}">
                <a16:creationId xmlns:a16="http://schemas.microsoft.com/office/drawing/2014/main" id="{6A328DF2-40F2-4DAF-9168-81C0A72A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80581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Frontend TypeScript types mirror backend response payloads for safer UI development.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89DE365-C369-4E0A-8C3F-053544D4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D74EDA-8CB8-4F4C-8F1A-EDB23F60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7155538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7B08E4F-BD46-4AE7-8A39-86798CBE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BE489BB-C007-4FC8-A6DB-9F4767D7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INSPECTOR WORKFLOW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4006D1-67CF-4275-AE1E-28E2ADAD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28587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Inspector page is optimized for fast defect capture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14DDF0-E6C5-423F-9783-78A9FD39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1201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It supports typed transcript, audio recording, audio upload fallback, image preview, and extracted result display.</a:t>
            </a:r>
          </a:p>
        </p:txBody>
      </p:sp>
      <p:sp>
        <p:nvSpPr>
          <p:cNvPr id="5" name="flow-step">
            <a:extLst xmlns:a="http://schemas.openxmlformats.org/drawingml/2006/main">
              <a:ext uri="{FF2B5EF4-FFF2-40B4-BE49-F238E27FC236}">
                <a16:creationId xmlns:a16="http://schemas.microsoft.com/office/drawing/2014/main" id="{17638964-B8B2-4817-8A8C-DB96C8E7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743200" cy="1061085"/>
          </a:xfrm>
          <a:prstGeom xmlns:a="http://schemas.openxmlformats.org/drawingml/2006/main" prst="roundRect">
            <a:avLst>
              <a:gd name="adj" fmla="val 1436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hip">
            <a:extLst xmlns:a="http://schemas.openxmlformats.org/drawingml/2006/main">
              <a:ext uri="{FF2B5EF4-FFF2-40B4-BE49-F238E27FC236}">
                <a16:creationId xmlns:a16="http://schemas.microsoft.com/office/drawing/2014/main" id="{FD236645-3329-4261-9E0E-9354C30E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>
              <a:alpha val="9412"/>
            </a:srgbClr>
          </a:solidFill>
        </p:spPr>
      </p:sp>
      <p:sp>
        <p:nvSpPr>
          <p:cNvPr id="7" name="chip-label">
            <a:extLst xmlns:a="http://schemas.openxmlformats.org/drawingml/2006/main">
              <a:ext uri="{FF2B5EF4-FFF2-40B4-BE49-F238E27FC236}">
                <a16:creationId xmlns:a16="http://schemas.microsoft.com/office/drawing/2014/main" id="{AB58B4FD-C8C5-4B79-B537-F7232C65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861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Enter context</a:t>
            </a:r>
          </a:p>
        </p:txBody>
      </p:sp>
      <p:sp>
        <p:nvSpPr>
          <p:cNvPr id="8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CC9A7A0C-8817-4633-8B43-AC79CC98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2324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Train, coach, location.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DE15ACA3-742E-4F7C-8C18-4237F1EB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10" name="flow-step">
            <a:extLst xmlns:a="http://schemas.openxmlformats.org/drawingml/2006/main">
              <a:ext uri="{FF2B5EF4-FFF2-40B4-BE49-F238E27FC236}">
                <a16:creationId xmlns:a16="http://schemas.microsoft.com/office/drawing/2014/main" id="{B6D7A9C1-A858-45AE-98A5-7A460D24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2743200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chip">
            <a:extLst xmlns:a="http://schemas.openxmlformats.org/drawingml/2006/main">
              <a:ext uri="{FF2B5EF4-FFF2-40B4-BE49-F238E27FC236}">
                <a16:creationId xmlns:a16="http://schemas.microsoft.com/office/drawing/2014/main" id="{6D59F17B-C67B-4E38-9EE7-9A147CE1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9090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>
              <a:alpha val="9412"/>
            </a:srgbClr>
          </a:solidFill>
        </p:spPr>
      </p:sp>
      <p:sp>
        <p:nvSpPr>
          <p:cNvPr id="12" name="chip-label">
            <a:extLst xmlns:a="http://schemas.openxmlformats.org/drawingml/2006/main">
              <a:ext uri="{FF2B5EF4-FFF2-40B4-BE49-F238E27FC236}">
                <a16:creationId xmlns:a16="http://schemas.microsoft.com/office/drawing/2014/main" id="{E103382F-7BCD-4AAE-A19E-4875E9BB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Capture narrative</a:t>
            </a:r>
          </a:p>
        </p:txBody>
      </p:sp>
      <p:sp>
        <p:nvSpPr>
          <p:cNvPr id="13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30E1B8F7-6F9B-470E-8A11-6B29167E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232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Type transcript or record/upload audio.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9AA019B0-F6D6-49D6-92F0-78486CA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15" name="flow-step">
            <a:extLst xmlns:a="http://schemas.openxmlformats.org/drawingml/2006/main">
              <a:ext uri="{FF2B5EF4-FFF2-40B4-BE49-F238E27FC236}">
                <a16:creationId xmlns:a16="http://schemas.microsoft.com/office/drawing/2014/main" id="{4A9BBF05-C210-4DCB-9C0B-44A75ECE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2743200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chip">
            <a:extLst xmlns:a="http://schemas.openxmlformats.org/drawingml/2006/main">
              <a:ext uri="{FF2B5EF4-FFF2-40B4-BE49-F238E27FC236}">
                <a16:creationId xmlns:a16="http://schemas.microsoft.com/office/drawing/2014/main" id="{7F875644-AEBB-4D12-A01B-DDDA0714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>
              <a:alpha val="9412"/>
            </a:srgbClr>
          </a:solidFill>
        </p:spPr>
      </p:sp>
      <p:sp>
        <p:nvSpPr>
          <p:cNvPr id="17" name="chip-label">
            <a:extLst xmlns:a="http://schemas.openxmlformats.org/drawingml/2006/main">
              <a:ext uri="{FF2B5EF4-FFF2-40B4-BE49-F238E27FC236}">
                <a16:creationId xmlns:a16="http://schemas.microsoft.com/office/drawing/2014/main" id="{A348B197-0942-4DA3-9F4D-8D7E9EED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Attach image</a:t>
            </a:r>
          </a:p>
        </p:txBody>
      </p:sp>
      <p:sp>
        <p:nvSpPr>
          <p:cNvPr id="18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A2B6995F-8E86-4D45-9D6C-48388360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48100"/>
            <a:ext cx="232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Upload image evidence with preview.</a:t>
            </a:r>
          </a:p>
        </p:txBody>
      </p:sp>
      <p:sp>
        <p:nvSpPr>
          <p:cNvPr id="19" name="flow-arrow">
            <a:extLst xmlns:a="http://schemas.openxmlformats.org/drawingml/2006/main">
              <a:ext uri="{FF2B5EF4-FFF2-40B4-BE49-F238E27FC236}">
                <a16:creationId xmlns:a16="http://schemas.microsoft.com/office/drawing/2014/main" id="{A02311E7-5851-4217-87F1-1E57F0B3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2004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20" name="flow-step">
            <a:extLst xmlns:a="http://schemas.openxmlformats.org/drawingml/2006/main">
              <a:ext uri="{FF2B5EF4-FFF2-40B4-BE49-F238E27FC236}">
                <a16:creationId xmlns:a16="http://schemas.microsoft.com/office/drawing/2014/main" id="{9729AC1A-857A-4723-83E2-4C1A0E56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00400"/>
            <a:ext cx="2743200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chip">
            <a:extLst xmlns:a="http://schemas.openxmlformats.org/drawingml/2006/main">
              <a:ext uri="{FF2B5EF4-FFF2-40B4-BE49-F238E27FC236}">
                <a16:creationId xmlns:a16="http://schemas.microsoft.com/office/drawing/2014/main" id="{8C2B09FE-B8C4-41CC-AD33-EFEC3064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39090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>
              <a:alpha val="9412"/>
            </a:srgbClr>
          </a:solidFill>
        </p:spPr>
      </p:sp>
      <p:sp>
        <p:nvSpPr>
          <p:cNvPr id="22" name="chip-label">
            <a:extLst xmlns:a="http://schemas.openxmlformats.org/drawingml/2006/main">
              <a:ext uri="{FF2B5EF4-FFF2-40B4-BE49-F238E27FC236}">
                <a16:creationId xmlns:a16="http://schemas.microsoft.com/office/drawing/2014/main" id="{09E2C721-93C1-42A5-B9F8-61A3212C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4861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Submit fast</a:t>
            </a:r>
          </a:p>
        </p:txBody>
      </p:sp>
      <p:sp>
        <p:nvSpPr>
          <p:cNvPr id="23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DD0DF158-C608-4DCE-9681-B757942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848100"/>
            <a:ext cx="232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Create defect and run fast extraction.</a:t>
            </a:r>
          </a:p>
        </p:txBody>
      </p:sp>
      <p:sp>
        <p:nvSpPr>
          <p:cNvPr id="24" name="flow-arrow">
            <a:extLst xmlns:a="http://schemas.openxmlformats.org/drawingml/2006/main">
              <a:ext uri="{FF2B5EF4-FFF2-40B4-BE49-F238E27FC236}">
                <a16:creationId xmlns:a16="http://schemas.microsoft.com/office/drawing/2014/main" id="{91E426E5-12F5-4C53-9781-0BA885E1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320040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BD5E1"/>
                </a:solidFill>
              </a:defRPr>
            </a:pPr>
            <a:r>
              <a:rPr sz="2550" b="1">
                <a:solidFill>
                  <a:srgbClr val="CBD5E1"/>
                </a:solidFill>
              </a:rPr>
              <a:t>-&gt;</a:t>
            </a:r>
          </a:p>
        </p:txBody>
      </p:sp>
      <p:sp>
        <p:nvSpPr>
          <p:cNvPr id="25" name="flow-step">
            <a:extLst xmlns:a="http://schemas.openxmlformats.org/drawingml/2006/main">
              <a:ext uri="{FF2B5EF4-FFF2-40B4-BE49-F238E27FC236}">
                <a16:creationId xmlns:a16="http://schemas.microsoft.com/office/drawing/2014/main" id="{CF762D0E-FBDE-469C-BDD0-3DF45CCC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3200400"/>
            <a:ext cx="2743200" cy="1278255"/>
          </a:xfrm>
          <a:prstGeom xmlns:a="http://schemas.openxmlformats.org/drawingml/2006/main" prst="roundRect">
            <a:avLst>
              <a:gd name="adj" fmla="val 1192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hip">
            <a:extLst xmlns:a="http://schemas.openxmlformats.org/drawingml/2006/main">
              <a:ext uri="{FF2B5EF4-FFF2-40B4-BE49-F238E27FC236}">
                <a16:creationId xmlns:a16="http://schemas.microsoft.com/office/drawing/2014/main" id="{E5B1313B-D867-47AC-BC70-E03AD4CF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390900"/>
            <a:ext cx="2324100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9412"/>
            </a:srgbClr>
          </a:solidFill>
        </p:spPr>
      </p:sp>
      <p:sp>
        <p:nvSpPr>
          <p:cNvPr id="27" name="chip-label">
            <a:extLst xmlns:a="http://schemas.openxmlformats.org/drawingml/2006/main">
              <a:ext uri="{FF2B5EF4-FFF2-40B4-BE49-F238E27FC236}">
                <a16:creationId xmlns:a16="http://schemas.microsoft.com/office/drawing/2014/main" id="{572D768C-A1B2-4667-B3A3-AE118967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348615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Review result</a:t>
            </a:r>
          </a:p>
        </p:txBody>
      </p:sp>
      <p:sp>
        <p:nvSpPr>
          <p:cNvPr id="28" name="flow-step-body">
            <a:extLst xmlns:a="http://schemas.openxmlformats.org/drawingml/2006/main">
              <a:ext uri="{FF2B5EF4-FFF2-40B4-BE49-F238E27FC236}">
                <a16:creationId xmlns:a16="http://schemas.microsoft.com/office/drawing/2014/main" id="{07AD4325-07A0-4725-9926-A9D2012C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3848100"/>
            <a:ext cx="2324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Show code, coach, component, type, severity.</a:t>
            </a:r>
          </a:p>
        </p:txBody>
      </p:sp>
      <p:sp>
        <p:nvSpPr>
          <p:cNvPr id="29" name="inspector-note">
            <a:extLst xmlns:a="http://schemas.openxmlformats.org/drawingml/2006/main">
              <a:ext uri="{FF2B5EF4-FFF2-40B4-BE49-F238E27FC236}">
                <a16:creationId xmlns:a16="http://schemas.microsoft.com/office/drawing/2014/main" id="{D88FCC98-A0EC-476C-89D9-00E4000C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5355"/>
            <a:ext cx="166878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0" name="body-text">
            <a:extLst xmlns:a="http://schemas.openxmlformats.org/drawingml/2006/main">
              <a:ext uri="{FF2B5EF4-FFF2-40B4-BE49-F238E27FC236}">
                <a16:creationId xmlns:a16="http://schemas.microsoft.com/office/drawing/2014/main" id="{89DB9496-FE35-40F9-A156-5AA903F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161163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4155"/>
                </a:solidFill>
              </a:defRPr>
            </a:pPr>
            <a:r>
              <a:rPr sz="1875" b="0">
                <a:solidFill>
                  <a:srgbClr val="334155"/>
                </a:solidFill>
              </a:rPr>
              <a:t>If audio is submitted and Whisper is enabled, the UI first saves the defect, uploads audio, transcribes it, shows the transcript, then runs fast extraction. AI refinement is a separate button.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9B28927-727E-418C-AA8B-14634F21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3F50E15-2BA6-440F-B445-93307C98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2201232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E24F6A9-1516-44C0-9675-B6CDB1D4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AE669B8-4645-4972-AC74-A3265380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SUPERVISOR WORKFLOW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73BFF7-7DF1-4AE8-BCF4-9580CE62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21729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Supervisor page turns captured logs into action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A5F1E3-FC05-4436-B629-F3338975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7315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It is built for reviewing evidence, filtering defects, and updating progress.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4BD9E5D8-0CA1-4457-822E-F215C822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3220"/>
            <a:ext cx="8201025" cy="3110865"/>
          </a:xfrm>
          <a:prstGeom xmlns:a="http://schemas.openxmlformats.org/drawingml/2006/main" prst="roundRect">
            <a:avLst>
              <a:gd name="adj" fmla="val 55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A57BF84-A72B-417E-A114-38619F9B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7AAF577E-C6C2-46F5-91DB-06106DD8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Summary cards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532F45A7-6903-496E-A8A7-5C8796C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Total, open, in-progress, resolved, and critical counts give instant workload status.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8F5D946A-7D91-4FA1-A3AB-F5ED07EC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03220"/>
            <a:ext cx="8201025" cy="3110865"/>
          </a:xfrm>
          <a:prstGeom xmlns:a="http://schemas.openxmlformats.org/drawingml/2006/main" prst="roundRect">
            <a:avLst>
              <a:gd name="adj" fmla="val 55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1EBF562-91BB-4AAF-A5CF-68684466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BE9AB608-3332-43C2-8B14-22FF5DDC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Defect table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03BE321C-0C19-4227-A4FE-C9C0E703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433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Filter by status, severity, and component, then select a defect for details.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EE2D15A7-3B77-49E6-8C5D-4DDF1B5C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4585"/>
            <a:ext cx="8201025" cy="3110865"/>
          </a:xfrm>
          <a:prstGeom xmlns:a="http://schemas.openxmlformats.org/drawingml/2006/main" prst="roundRect">
            <a:avLst>
              <a:gd name="adj" fmla="val 55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19D8D04-12FE-414E-9D9E-22F4F4525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389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A90AD6B8-0036-4B62-A21C-759C41CA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4389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Evidence review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3F7B113B-B6EA-4BD9-ADEF-F016A7BA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Supervisor sees transcript, English translation, audio playback, and image previews.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A6CE68DC-1E68-4F09-8320-5F19A894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204585"/>
            <a:ext cx="8201025" cy="3110865"/>
          </a:xfrm>
          <a:prstGeom xmlns:a="http://schemas.openxmlformats.org/drawingml/2006/main" prst="roundRect">
            <a:avLst>
              <a:gd name="adj" fmla="val 55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6825CD0-C9B0-4300-A9B8-BB4943B6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4389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4129CE0B-57D7-44D8-9FCA-D3C29EC2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4389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Status update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8492DE73-E9AB-467D-9ED7-67A4199A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8580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Status dropdown plus remarks writes to DefectLog and StatusHistory.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A1DF5C0-D34C-4B83-B459-F8EFD076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8DC760D-1C78-4929-8153-878BA691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3990758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3087DB7-20C2-4FC4-8EB1-62FB0248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8AB8E26-50F4-47FB-8C62-663E8F26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MANAGER WORKFLOW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985C2C-3B40-4912-AF4E-DCF82352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24777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Manager page aggregates the defect stream into decisions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05A0832-668C-4E73-AE07-468F3B7A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229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It focuses on trends and risk rather than individual form entry.</a:t>
            </a:r>
          </a:p>
        </p:txBody>
      </p:sp>
      <p:sp>
        <p:nvSpPr>
          <p:cNvPr id="5" name="manager-left">
            <a:extLst xmlns:a="http://schemas.openxmlformats.org/drawingml/2006/main">
              <a:ext uri="{FF2B5EF4-FFF2-40B4-BE49-F238E27FC236}">
                <a16:creationId xmlns:a16="http://schemas.microsoft.com/office/drawing/2014/main" id="{460DDEF3-4138-47F3-9257-3894240A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6286500" cy="61150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29563E5-677C-4AA2-8A64-F57D030A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5638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563EB"/>
                </a:solidFill>
              </a:defRPr>
            </a:pPr>
            <a:r>
              <a:rPr sz="4650" b="1">
                <a:solidFill>
                  <a:srgbClr val="2563EB"/>
                </a:solidFill>
              </a:rPr>
              <a:t>All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E0E7741-113A-4BA1-A48E-2DB8C3E9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5638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Total defects</a:t>
            </a:r>
          </a:p>
        </p:txBody>
      </p:sp>
      <p:sp>
        <p:nvSpPr>
          <p:cNvPr id="8" name="metric-helper">
            <a:extLst xmlns:a="http://schemas.openxmlformats.org/drawingml/2006/main">
              <a:ext uri="{FF2B5EF4-FFF2-40B4-BE49-F238E27FC236}">
                <a16:creationId xmlns:a16="http://schemas.microsoft.com/office/drawing/2014/main" id="{A910A3CB-C7F8-46CF-9CBA-86E60B1D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Complete captured log volume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5C73CF85-2D4E-47AD-A577-9D783C28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5638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11D48"/>
                </a:solidFill>
              </a:defRPr>
            </a:pPr>
            <a:r>
              <a:rPr sz="4650" b="1">
                <a:solidFill>
                  <a:srgbClr val="E11D48"/>
                </a:solidFill>
              </a:rPr>
              <a:t>Risk</a:t>
            </a:r>
          </a:p>
        </p:txBody>
      </p:sp>
      <p:sp>
        <p:nvSpPr>
          <p:cNvPr id="10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D3478450-09C5-4CA7-8EB7-046B98F4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5638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Critical defects</a:t>
            </a:r>
          </a:p>
        </p:txBody>
      </p:sp>
      <p:sp>
        <p:nvSpPr>
          <p:cNvPr id="11" name="metric-helper">
            <a:extLst xmlns:a="http://schemas.openxmlformats.org/drawingml/2006/main">
              <a:ext uri="{FF2B5EF4-FFF2-40B4-BE49-F238E27FC236}">
                <a16:creationId xmlns:a16="http://schemas.microsoft.com/office/drawing/2014/main" id="{D17EBF29-3959-4933-985E-1DC7D94E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293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Brake, wheel, smoke, fire, electrical spark</a:t>
            </a:r>
          </a:p>
        </p:txBody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3418E81-E12C-4A19-B938-A56458C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705600"/>
            <a:ext cx="5638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59669"/>
                </a:solidFill>
              </a:defRPr>
            </a:pPr>
            <a:r>
              <a:rPr sz="4650" b="1">
                <a:solidFill>
                  <a:srgbClr val="059669"/>
                </a:solidFill>
              </a:rPr>
              <a:t>Closure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94E6890-A0C0-4895-A4C6-354C5D94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486650"/>
            <a:ext cx="5638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Resolved defects</a:t>
            </a:r>
          </a:p>
        </p:txBody>
      </p:sp>
      <p:sp>
        <p:nvSpPr>
          <p:cNvPr id="14" name="metric-helper">
            <a:extLst xmlns:a="http://schemas.openxmlformats.org/drawingml/2006/main">
              <a:ext uri="{FF2B5EF4-FFF2-40B4-BE49-F238E27FC236}">
                <a16:creationId xmlns:a16="http://schemas.microsoft.com/office/drawing/2014/main" id="{1EF6DC32-534E-4028-8F9B-30D35155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829550"/>
            <a:ext cx="5638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Work completed and tracked</a:t>
            </a:r>
          </a:p>
        </p:txBody>
      </p:sp>
      <p:sp>
        <p:nvSpPr>
          <p:cNvPr id="15" name="manager-right">
            <a:extLst xmlns:a="http://schemas.openxmlformats.org/drawingml/2006/main">
              <a:ext uri="{FF2B5EF4-FFF2-40B4-BE49-F238E27FC236}">
                <a16:creationId xmlns:a16="http://schemas.microsoft.com/office/drawing/2014/main" id="{C9CC6568-6D83-4A31-942E-E206C40F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00400"/>
            <a:ext cx="10077450" cy="61150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bullet-dot">
            <a:extLst xmlns:a="http://schemas.openxmlformats.org/drawingml/2006/main">
              <a:ext uri="{FF2B5EF4-FFF2-40B4-BE49-F238E27FC236}">
                <a16:creationId xmlns:a16="http://schemas.microsoft.com/office/drawing/2014/main" id="{CF11BC88-E27E-43AE-9C47-2FBF3B22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86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7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3E7CDF57-45D4-4857-A203-A7408849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912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Defects by component</a:t>
            </a:r>
          </a:p>
        </p:txBody>
      </p:sp>
      <p:sp>
        <p:nvSpPr>
          <p:cNvPr id="18" name="bullet-body">
            <a:extLst xmlns:a="http://schemas.openxmlformats.org/drawingml/2006/main">
              <a:ext uri="{FF2B5EF4-FFF2-40B4-BE49-F238E27FC236}">
                <a16:creationId xmlns:a16="http://schemas.microsoft.com/office/drawing/2014/main" id="{B20783C8-D884-4D5C-A5E8-3E526F15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912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Shows concentration areas like Brake System, Door, Electrical System, Seat/Berth.</a:t>
            </a:r>
          </a:p>
        </p:txBody>
      </p:sp>
      <p:sp>
        <p:nvSpPr>
          <p:cNvPr id="19" name="bullet-dot">
            <a:extLst xmlns:a="http://schemas.openxmlformats.org/drawingml/2006/main">
              <a:ext uri="{FF2B5EF4-FFF2-40B4-BE49-F238E27FC236}">
                <a16:creationId xmlns:a16="http://schemas.microsoft.com/office/drawing/2014/main" id="{996F96A6-85F4-4DF8-951A-0E0F6C1D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053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20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4C96B61D-8C62-4314-A190-B0689F35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912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Defects by status</a:t>
            </a:r>
          </a:p>
        </p:txBody>
      </p:sp>
      <p:sp>
        <p:nvSpPr>
          <p:cNvPr id="21" name="bullet-body">
            <a:extLst xmlns:a="http://schemas.openxmlformats.org/drawingml/2006/main">
              <a:ext uri="{FF2B5EF4-FFF2-40B4-BE49-F238E27FC236}">
                <a16:creationId xmlns:a16="http://schemas.microsoft.com/office/drawing/2014/main" id="{01BD157F-C5F2-40F9-8B9B-C2155586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48200"/>
            <a:ext cx="912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Shows whether issues are stuck Open, In Progress, or moving to Resolved.</a:t>
            </a:r>
          </a:p>
        </p:txBody>
      </p:sp>
      <p:sp>
        <p:nvSpPr>
          <p:cNvPr id="22" name="bullet-dot">
            <a:extLst xmlns:a="http://schemas.openxmlformats.org/drawingml/2006/main">
              <a:ext uri="{FF2B5EF4-FFF2-40B4-BE49-F238E27FC236}">
                <a16:creationId xmlns:a16="http://schemas.microsoft.com/office/drawing/2014/main" id="{799A3615-6091-4892-ADE1-17395B0B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24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23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FA5ABD86-A616-4088-BBEE-809CBB8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24450"/>
            <a:ext cx="912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Recent critical defects</a:t>
            </a:r>
          </a:p>
        </p:txBody>
      </p:sp>
      <p:sp>
        <p:nvSpPr>
          <p:cNvPr id="24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A5A5C44-F46E-464A-B29A-303F277C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67350"/>
            <a:ext cx="912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Gives leadership immediate visibility into safety-sensitive observations.</a:t>
            </a:r>
          </a:p>
        </p:txBody>
      </p:sp>
      <p:sp>
        <p:nvSpPr>
          <p:cNvPr id="25" name="bullet-dot">
            <a:extLst xmlns:a="http://schemas.openxmlformats.org/drawingml/2006/main">
              <a:ext uri="{FF2B5EF4-FFF2-40B4-BE49-F238E27FC236}">
                <a16:creationId xmlns:a16="http://schemas.microsoft.com/office/drawing/2014/main" id="{153D7AD9-7126-4FA3-8170-55EB1BC6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943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26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B57D2DF2-A1DD-4F4D-B937-FF9887EC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43600"/>
            <a:ext cx="912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Future extension</a:t>
            </a:r>
          </a:p>
        </p:txBody>
      </p:sp>
      <p:sp>
        <p:nvSpPr>
          <p:cNvPr id="27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3767375-51E3-4E75-8459-C5752801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286500"/>
            <a:ext cx="9124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The same model can support date filters, depot filters, SLA charts, and export reports.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488A54F-7F6B-4A85-9C03-EBA37242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9747D57-4F5F-422C-9BD2-C7907088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876340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290B497-BBF7-47B8-86D1-7E81B353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</p:spPr>
      </p:sp>
      <p:sp>
        <p:nvSpPr>
          <p:cNvPr id="2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D7AD230B-A69D-4104-BC4F-EF6BD336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>
              <a:alpha val="20000"/>
            </a:srgbClr>
          </a:solidFill>
        </p:spPr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76A669F-1A4B-4A42-9B8E-A75067B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1630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ENGINEERING DECISIONS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04E66F-857F-4FAF-B4D0-10CDABDD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85900"/>
            <a:ext cx="9715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Why these methods were chosen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12404FC-A5B8-45EF-9E52-1347C9A3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01155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CBD5E1"/>
                </a:solidFill>
              </a:defRPr>
            </a:pPr>
            <a:r>
              <a:rPr sz="2250">
                <a:solidFill>
                  <a:srgbClr val="CBD5E1"/>
                </a:solidFill>
              </a:rPr>
              <a:t>The project balances demo speed, local privacy, reliability, and future production paths.</a:t>
            </a:r>
          </a:p>
        </p:txBody>
      </p:sp>
      <p:sp>
        <p:nvSpPr>
          <p:cNvPr id="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7C8A366-8966-4316-B79F-8FAC5EFE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990392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3550675-3CDD-4CEC-A2E1-5CD5A4C0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B8368EC-668D-493F-BED7-4D171C26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TECHNOLOGY CHOICES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C2D3E2-DF42-46B0-BE97-7F830FA0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16967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Each tool was selected for a practical MVP reason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F768BA5-5A54-44BD-8C2F-8C72E83D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210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choices keep the system understandable and replaceable.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B85D2E2A-405C-4086-948C-C9D494A3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8201025" cy="1991360"/>
          </a:xfrm>
          <a:prstGeom xmlns:a="http://schemas.openxmlformats.org/drawingml/2006/main" prst="roundRect">
            <a:avLst>
              <a:gd name="adj" fmla="val 86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BC9653D-067B-4562-96DB-794CCC2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0F8A2B51-BF34-4F96-B7B1-404BD4C7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FastAPI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4CB44306-0E07-49EB-BB2A-B819686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Fast to build, typed request/response validation with Pydantic, good for Python AI/service integration.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7445EEFA-E2AE-4087-9697-85BE0292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00400"/>
            <a:ext cx="8201025" cy="1991360"/>
          </a:xfrm>
          <a:prstGeom xmlns:a="http://schemas.openxmlformats.org/drawingml/2006/main" prst="roundRect">
            <a:avLst>
              <a:gd name="adj" fmla="val 86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2A080A9-0DF9-4666-BC70-8BE51640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99AD03D9-181A-4268-B70D-6DBA9E39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29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SQLAlchemy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DAE0F06E-CA53-42B8-8361-63F32381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481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Clean database models and sessions, with ability to switch SQLite/PostgreSQL through DATABASE_URL.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E54E152C-F76A-4E3E-AE8D-2184B7FA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2260"/>
            <a:ext cx="8201025" cy="1751330"/>
          </a:xfrm>
          <a:prstGeom xmlns:a="http://schemas.openxmlformats.org/drawingml/2006/main" prst="roundRect">
            <a:avLst>
              <a:gd name="adj" fmla="val 979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381485D-E4E0-44EC-ABED-4FD777D2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289FF3F9-1ED3-4DCB-ACDB-8B650631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197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Next.js + TypeScript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7AA9852E-5DBE-452A-9392-6B4B7203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388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Professional dashboard UI, component reuse, type safety, and clean API integration.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21132D1B-CB58-4215-B2BF-D938E451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382260"/>
            <a:ext cx="8201025" cy="1751330"/>
          </a:xfrm>
          <a:prstGeom xmlns:a="http://schemas.openxmlformats.org/drawingml/2006/main" prst="roundRect">
            <a:avLst>
              <a:gd name="adj" fmla="val 979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D300B45-4139-4631-9EA1-8B03FEE3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007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CFE715FD-2F1C-43C8-B533-B597D089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197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Local uploads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245EE122-1D6F-4704-AC4E-A54A6635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0388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Simple MVP evidence storage without adding Docker, S3, or infrastructure too early.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58874D91-838B-41E0-9754-FB060A4C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24090"/>
            <a:ext cx="8201025" cy="1991360"/>
          </a:xfrm>
          <a:prstGeom xmlns:a="http://schemas.openxmlformats.org/drawingml/2006/main" prst="roundRect">
            <a:avLst>
              <a:gd name="adj" fmla="val 86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211A2B1-5520-4CFB-A415-4ADD98C2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438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23" name="card-title">
            <a:extLst xmlns:a="http://schemas.openxmlformats.org/drawingml/2006/main">
              <a:ext uri="{FF2B5EF4-FFF2-40B4-BE49-F238E27FC236}">
                <a16:creationId xmlns:a16="http://schemas.microsoft.com/office/drawing/2014/main" id="{4279D7B2-FE05-470E-938A-22F401D5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5438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Whisper optional</a:t>
            </a:r>
          </a:p>
        </p:txBody>
      </p:sp>
      <p:sp>
        <p:nvSpPr>
          <p:cNvPr id="24" name="card-body">
            <a:extLst xmlns:a="http://schemas.openxmlformats.org/drawingml/2006/main">
              <a:ext uri="{FF2B5EF4-FFF2-40B4-BE49-F238E27FC236}">
                <a16:creationId xmlns:a16="http://schemas.microsoft.com/office/drawing/2014/main" id="{DED73912-E43C-41D3-8A0B-F05AB500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629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Adds speech-to-text while keeping typed transcript workflow available on low-resource machines.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F1C4974D-9610-4E69-8A88-1355D25E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324090"/>
            <a:ext cx="8201025" cy="1991360"/>
          </a:xfrm>
          <a:prstGeom xmlns:a="http://schemas.openxmlformats.org/drawingml/2006/main" prst="roundRect">
            <a:avLst>
              <a:gd name="adj" fmla="val 86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69B29F4-C2B3-4C30-8310-186BB681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5438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27" name="card-title">
            <a:extLst xmlns:a="http://schemas.openxmlformats.org/drawingml/2006/main">
              <a:ext uri="{FF2B5EF4-FFF2-40B4-BE49-F238E27FC236}">
                <a16:creationId xmlns:a16="http://schemas.microsoft.com/office/drawing/2014/main" id="{E9A0D0F1-F66F-4728-9226-3FD4D6BA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5438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Ollama optional</a:t>
            </a:r>
          </a:p>
        </p:txBody>
      </p:sp>
      <p:sp>
        <p:nvSpPr>
          <p:cNvPr id="28" name="card-body">
            <a:extLst xmlns:a="http://schemas.openxmlformats.org/drawingml/2006/main">
              <a:ext uri="{FF2B5EF4-FFF2-40B4-BE49-F238E27FC236}">
                <a16:creationId xmlns:a16="http://schemas.microsoft.com/office/drawing/2014/main" id="{A0D1A515-11F2-4068-A278-ED0FAFAD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9629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Adds local LLM intelligence without making cloud LLM dependency mandatory.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2E6A26E-EE6F-4256-AF39-3874F445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0588F4-4D13-4D2B-976E-84B6F854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6147308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077CEECB-F430-499B-AB18-5951C217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F2F6E35-87BC-4F4A-B79B-C9120BCD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ALTERNATIVES CONSIDERED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98E1EB-0031-451D-980C-C520A35B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34112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There are multiple ways to build this; the MVP chose the lowest-friction path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158E8D-3908-4874-B047-2AC0B78B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7448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These alternatives become useful when moving from demo to production.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2BF4D17A-CAD9-49BD-B0F8-122D4916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0322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0725DE5-54EE-4D57-8E47-BAF6B967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FE349484-F95F-4EF0-AD64-199A7211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242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On-device speech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7BB72100-5A8C-4F02-BB7B-143E57AF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Possible in a mobile app using native SDKs or small models. Reduces upload latency but increases device requirements.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595B3DCE-7FDE-4A1C-97D3-B1DB5C8A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0322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35E09C9-B888-4BD2-ABCA-39E9F4D8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242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B1B1DE43-39C0-4857-ADBD-112D54FC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Cloud speech API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911240B3-789F-43B6-875C-CD1763E5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433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Usually faster and more accurate at scale, but needs internet, vendor cost, and data/privacy review.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6D1E9628-9CE0-4B09-AF88-4E3BC150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413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6C21E5A-D539-4B2F-B1FC-FAFB7633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6144DFAE-CBB7-4A4A-BD04-05799CC6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34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Cloud LLM extraction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3BD38759-38A7-40DD-91F3-1C64FCC7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531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Could be more accurate and faster than local CPU Ollama, but introduces external dependency and cost.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89B97BD3-524D-4379-814B-EAE0EE12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0413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35078F2-12D8-4B39-B1BA-BA183FE9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334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F8FF133D-A6B9-46C1-B6E1-CBC49E2E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334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Background jobs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A60C7E25-E0D4-4D15-B124-1EA13CC9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531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Better production UX: submit immediately, process audio/AI in queue, notify UI when complete.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24444CC3-D8A2-4DC5-B149-E47F529D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0504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86D4BA1-6C2C-4B75-8FAA-5DB0175B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438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23" name="card-title">
            <a:extLst xmlns:a="http://schemas.openxmlformats.org/drawingml/2006/main">
              <a:ext uri="{FF2B5EF4-FFF2-40B4-BE49-F238E27FC236}">
                <a16:creationId xmlns:a16="http://schemas.microsoft.com/office/drawing/2014/main" id="{C8DE1400-C028-491E-839A-CDB9B7C9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5247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Object storage</a:t>
            </a:r>
          </a:p>
        </p:txBody>
      </p:sp>
      <p:sp>
        <p:nvSpPr>
          <p:cNvPr id="24" name="card-body">
            <a:extLst xmlns:a="http://schemas.openxmlformats.org/drawingml/2006/main">
              <a:ext uri="{FF2B5EF4-FFF2-40B4-BE49-F238E27FC236}">
                <a16:creationId xmlns:a16="http://schemas.microsoft.com/office/drawing/2014/main" id="{C3BE6EB0-D5DB-400E-84EE-4AB19004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438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S3/Azure Blob/Internal NAS is better than local uploads for production evidence retention.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CB6F96AB-E6A8-4DC3-9131-4CBABE9C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305040"/>
            <a:ext cx="8201025" cy="2010410"/>
          </a:xfrm>
          <a:prstGeom xmlns:a="http://schemas.openxmlformats.org/drawingml/2006/main" prst="roundRect">
            <a:avLst>
              <a:gd name="adj" fmla="val 852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A9A89E8-73E0-4E9D-9C08-9873F9EF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5438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27" name="card-title">
            <a:extLst xmlns:a="http://schemas.openxmlformats.org/drawingml/2006/main">
              <a:ext uri="{FF2B5EF4-FFF2-40B4-BE49-F238E27FC236}">
                <a16:creationId xmlns:a16="http://schemas.microsoft.com/office/drawing/2014/main" id="{8B0D327B-CC4F-4B98-8CC2-CB29A788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5247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Full auth/RBAC</a:t>
            </a:r>
          </a:p>
        </p:txBody>
      </p:sp>
      <p:sp>
        <p:nvSpPr>
          <p:cNvPr id="28" name="card-body">
            <a:extLst xmlns:a="http://schemas.openxmlformats.org/drawingml/2006/main">
              <a:ext uri="{FF2B5EF4-FFF2-40B4-BE49-F238E27FC236}">
                <a16:creationId xmlns:a16="http://schemas.microsoft.com/office/drawing/2014/main" id="{BB8EB4C8-7027-4259-BDB6-B99E65C4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94385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Needed for production so each user only performs allowed actions and every change is auditable.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62F5BA-DC63-4E6C-8BB3-F26AE9D8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74A8139-F299-49B9-8E0C-70146FD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4059169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6B5A9F8-06F3-4438-ADD4-E9C8B0BC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CDD68D5-5E04-4207-A7A9-64F3F430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PERFORMANCE TRADEOFFS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33BB78-43F2-45EB-9FA3-5986D183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36398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slow parts are model loading and multilingual speech processing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E25AFCB-F55D-4401-A89B-80C7E026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695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project protects the UX by keeping the first structured result fast.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1CA58546-8077-4204-AFEB-8A28A957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5359400" cy="6115050"/>
          </a:xfrm>
          <a:prstGeom xmlns:a="http://schemas.openxmlformats.org/drawingml/2006/main" prst="roundRect">
            <a:avLst>
              <a:gd name="adj" fmla="val 31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A453330-B8B2-4D46-B05D-87FEE9E5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8EF93B12-3574-40B6-974B-5A6E8984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Fast operations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37FCD45C-024B-4E35-8BD3-34180466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819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Typed transcript extraction, defect creation, media metadata saving, listing defects, dashboard summaries, and status updates.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1C068BFC-C713-4B86-8C3C-56CCB6CD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3200400"/>
            <a:ext cx="5359400" cy="6115050"/>
          </a:xfrm>
          <a:prstGeom xmlns:a="http://schemas.openxmlformats.org/drawingml/2006/main" prst="roundRect">
            <a:avLst>
              <a:gd name="adj" fmla="val 31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DABE798-C7B1-4120-8627-BE50EDF5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C3E6432F-BDA6-406E-8E12-EA60E957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Slower operations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B96BF55A-F18C-4469-BC98-ADDC68B5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48196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Whisper model loading, Hindi/Kannada transcription, translation, and local Ollama extraction on CPU.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70280D54-A8AD-49B3-98A9-5706D1CC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00" y="3200400"/>
            <a:ext cx="5359400" cy="6115050"/>
          </a:xfrm>
          <a:prstGeom xmlns:a="http://schemas.openxmlformats.org/drawingml/2006/main" prst="roundRect">
            <a:avLst>
              <a:gd name="adj" fmla="val 319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F43445B-3383-4387-9AB7-C357F480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3A8712A3-F1A4-4B07-955F-025EC075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429000"/>
            <a:ext cx="4610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Mitigation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F96AFCB3-34DB-4D94-807C-C5941879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848100"/>
            <a:ext cx="4819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Submit fast first, show transcript early, run extraction separately, make AI refinement optional, and keep rule fallback.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91956F-66EF-4296-8938-4F4660C4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E587BBE-1C03-41CC-805C-321AD3C2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2986843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A1834B9-26EF-4FF9-AB37-767797E7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8723332-E8BF-4B5F-9FCA-478397D9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DEMO 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5BBEC2-8EAA-44E5-8885-8A74989E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2382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A clean live demo should start with the reliable path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8068E8-826A-452F-8DFF-30CB69FD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7677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Show the complete workflow first, then show optional voice and AI features.</a:t>
            </a:r>
          </a:p>
        </p:txBody>
      </p:sp>
      <p:sp>
        <p:nvSpPr>
          <p:cNvPr id="5" name="bullet-dot">
            <a:extLst xmlns:a="http://schemas.openxmlformats.org/drawingml/2006/main">
              <a:ext uri="{FF2B5EF4-FFF2-40B4-BE49-F238E27FC236}">
                <a16:creationId xmlns:a16="http://schemas.microsoft.com/office/drawing/2014/main" id="{29175655-19C3-42FE-9DF9-42FB2C56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6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06F88711-C426-4534-9A11-105FD5E4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1638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1. Start backend</a:t>
            </a:r>
          </a:p>
        </p:txBody>
      </p:sp>
      <p:sp>
        <p:nvSpPr>
          <p:cNvPr id="7" name="bullet-body">
            <a:extLst xmlns:a="http://schemas.openxmlformats.org/drawingml/2006/main">
              <a:ext uri="{FF2B5EF4-FFF2-40B4-BE49-F238E27FC236}">
                <a16:creationId xmlns:a16="http://schemas.microsoft.com/office/drawing/2014/main" id="{249545C5-E8D1-4C70-B22F-E0183EA7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1638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Run FastAPI on 127.0.0.1:8101 and confirm /health is ok.</a:t>
            </a:r>
          </a:p>
        </p:txBody>
      </p:sp>
      <p:sp>
        <p:nvSpPr>
          <p:cNvPr id="8" name="bullet-dot">
            <a:extLst xmlns:a="http://schemas.openxmlformats.org/drawingml/2006/main">
              <a:ext uri="{FF2B5EF4-FFF2-40B4-BE49-F238E27FC236}">
                <a16:creationId xmlns:a16="http://schemas.microsoft.com/office/drawing/2014/main" id="{0375DA68-3D19-4844-A361-B15A6C77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9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BAE8BFA0-3D8E-457E-9339-CE61C5A7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24300"/>
            <a:ext cx="1638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2. Start frontend</a:t>
            </a:r>
          </a:p>
        </p:txBody>
      </p:sp>
      <p:sp>
        <p:nvSpPr>
          <p:cNvPr id="10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73EFC83-B27E-4FC4-B9F4-DC31CF8B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1638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Run Next.js on 127.0.0.1:3101 and open the Inspector page.</a:t>
            </a:r>
          </a:p>
        </p:txBody>
      </p:sp>
      <p:sp>
        <p:nvSpPr>
          <p:cNvPr id="11" name="bullet-dot">
            <a:extLst xmlns:a="http://schemas.openxmlformats.org/drawingml/2006/main">
              <a:ext uri="{FF2B5EF4-FFF2-40B4-BE49-F238E27FC236}">
                <a16:creationId xmlns:a16="http://schemas.microsoft.com/office/drawing/2014/main" id="{B511472D-647F-4CB8-94A4-D95E6B5D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2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FA488770-BDD9-4266-8707-D3B3B843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1638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3. Submit typed transcript</a:t>
            </a:r>
          </a:p>
        </p:txBody>
      </p:sp>
      <p:sp>
        <p:nvSpPr>
          <p:cNvPr id="13" name="bullet-body">
            <a:extLst xmlns:a="http://schemas.openxmlformats.org/drawingml/2006/main">
              <a:ext uri="{FF2B5EF4-FFF2-40B4-BE49-F238E27FC236}">
                <a16:creationId xmlns:a16="http://schemas.microsoft.com/office/drawing/2014/main" id="{D0C9995D-2E54-473C-A303-D2884BC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91100"/>
            <a:ext cx="1638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Use 'Coach B2 brake pipe leakage...' to show Critical extraction quickly.</a:t>
            </a:r>
          </a:p>
        </p:txBody>
      </p:sp>
      <p:sp>
        <p:nvSpPr>
          <p:cNvPr id="14" name="bullet-dot">
            <a:extLst xmlns:a="http://schemas.openxmlformats.org/drawingml/2006/main">
              <a:ext uri="{FF2B5EF4-FFF2-40B4-BE49-F238E27FC236}">
                <a16:creationId xmlns:a16="http://schemas.microsoft.com/office/drawing/2014/main" id="{9A94402F-F048-4CB6-93B2-E849D57C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5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9E10900F-0EA1-41CF-9865-0374B156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72100"/>
            <a:ext cx="1638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4. Review as supervisor</a:t>
            </a:r>
          </a:p>
        </p:txBody>
      </p:sp>
      <p:sp>
        <p:nvSpPr>
          <p:cNvPr id="16" name="bullet-body">
            <a:extLst xmlns:a="http://schemas.openxmlformats.org/drawingml/2006/main">
              <a:ext uri="{FF2B5EF4-FFF2-40B4-BE49-F238E27FC236}">
                <a16:creationId xmlns:a16="http://schemas.microsoft.com/office/drawing/2014/main" id="{9D22E609-992A-463E-BF4E-DB701961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1638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Open Supervisor, select the new defect, inspect transcript/media, update status.</a:t>
            </a:r>
          </a:p>
        </p:txBody>
      </p:sp>
      <p:sp>
        <p:nvSpPr>
          <p:cNvPr id="17" name="bullet-dot">
            <a:extLst xmlns:a="http://schemas.openxmlformats.org/drawingml/2006/main">
              <a:ext uri="{FF2B5EF4-FFF2-40B4-BE49-F238E27FC236}">
                <a16:creationId xmlns:a16="http://schemas.microsoft.com/office/drawing/2014/main" id="{CB60F913-5C50-4196-952D-45427E67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18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EB0B7633-93E0-45DA-9E9E-FB3A77B7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96000"/>
            <a:ext cx="1638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5. Review as manager</a:t>
            </a:r>
          </a:p>
        </p:txBody>
      </p:sp>
      <p:sp>
        <p:nvSpPr>
          <p:cNvPr id="19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9696E16-8E38-4C8D-A7E0-7DF6EE6E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38900"/>
            <a:ext cx="1638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Open Manager to show changed summary and component/status analytics.</a:t>
            </a:r>
          </a:p>
        </p:txBody>
      </p:sp>
      <p:sp>
        <p:nvSpPr>
          <p:cNvPr id="20" name="bullet-dot">
            <a:extLst xmlns:a="http://schemas.openxmlformats.org/drawingml/2006/main">
              <a:ext uri="{FF2B5EF4-FFF2-40B4-BE49-F238E27FC236}">
                <a16:creationId xmlns:a16="http://schemas.microsoft.com/office/drawing/2014/main" id="{A3E04F09-17A3-4745-B9F8-CA512DBA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38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21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C7030C64-3131-41CB-85F5-8257E5B6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838950"/>
            <a:ext cx="1638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6. Optional voice/AI</a:t>
            </a:r>
          </a:p>
        </p:txBody>
      </p:sp>
      <p:sp>
        <p:nvSpPr>
          <p:cNvPr id="22" name="bullet-body">
            <a:extLst xmlns:a="http://schemas.openxmlformats.org/drawingml/2006/main">
              <a:ext uri="{FF2B5EF4-FFF2-40B4-BE49-F238E27FC236}">
                <a16:creationId xmlns:a16="http://schemas.microsoft.com/office/drawing/2014/main" id="{3F8427F6-64A9-4D72-BFA1-FF8676A0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162800"/>
            <a:ext cx="1638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Record audio, transcribe to text, then optionally click Improve with AI.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1272E6-C8A1-4949-9435-0D3E1B56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7B1871E-A5D5-4AAA-BF09-CA3CD47A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20168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7342E8D-BF4B-461C-97D2-E15B4982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DA1954C-0603-444F-A130-B7BCBA21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PRODUCTION ROADMAP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9BE7C4-9D83-4892-86F1-54021AB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33731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The MVP is complete enough to validate, but production needs hardening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B4CE9B-0EA3-4008-8F14-F6AE9F0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334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These are the next upgrades before real deployment.</a:t>
            </a:r>
          </a:p>
        </p:txBody>
      </p:sp>
      <p:sp>
        <p:nvSpPr>
          <p:cNvPr id="5" name="card">
            <a:extLst xmlns:a="http://schemas.openxmlformats.org/drawingml/2006/main">
              <a:ext uri="{FF2B5EF4-FFF2-40B4-BE49-F238E27FC236}">
                <a16:creationId xmlns:a16="http://schemas.microsoft.com/office/drawing/2014/main" id="{E45B43A6-78AF-4736-B5E3-FC872EBC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8201025" cy="1991360"/>
          </a:xfrm>
          <a:prstGeom xmlns:a="http://schemas.openxmlformats.org/drawingml/2006/main" prst="roundRect">
            <a:avLst>
              <a:gd name="adj" fmla="val 86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AD90146-333E-4D49-AD5D-2D976E21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</p:spPr>
      </p:sp>
      <p:sp>
        <p:nvSpPr>
          <p:cNvPr id="7" name="card-title">
            <a:extLst xmlns:a="http://schemas.openxmlformats.org/drawingml/2006/main">
              <a:ext uri="{FF2B5EF4-FFF2-40B4-BE49-F238E27FC236}">
                <a16:creationId xmlns:a16="http://schemas.microsoft.com/office/drawing/2014/main" id="{CB44D699-E3B1-4A5E-BD9D-14E61CDB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Authentication and RBAC</a:t>
            </a:r>
          </a:p>
        </p:txBody>
      </p:sp>
      <p:sp>
        <p:nvSpPr>
          <p:cNvPr id="8" name="card-body">
            <a:extLst xmlns:a="http://schemas.openxmlformats.org/drawingml/2006/main">
              <a:ext uri="{FF2B5EF4-FFF2-40B4-BE49-F238E27FC236}">
                <a16:creationId xmlns:a16="http://schemas.microsoft.com/office/drawing/2014/main" id="{5FA208D3-2E63-4856-B49F-BD599E26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Replace demo role switcher with real login, permissions, audit identity, password policy, and sessions.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D48C8C34-E4C3-4A37-A679-4FD161F1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00400"/>
            <a:ext cx="8201025" cy="1991360"/>
          </a:xfrm>
          <a:prstGeom xmlns:a="http://schemas.openxmlformats.org/drawingml/2006/main" prst="roundRect">
            <a:avLst>
              <a:gd name="adj" fmla="val 86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E6897E3-08C3-4A08-BCD0-927F238E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1" name="card-title">
            <a:extLst xmlns:a="http://schemas.openxmlformats.org/drawingml/2006/main">
              <a:ext uri="{FF2B5EF4-FFF2-40B4-BE49-F238E27FC236}">
                <a16:creationId xmlns:a16="http://schemas.microsoft.com/office/drawing/2014/main" id="{D5DA7911-4C5D-48D3-B95B-01B1033C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290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Deployment architecture</a:t>
            </a:r>
          </a:p>
        </p:txBody>
      </p:sp>
      <p:sp>
        <p:nvSpPr>
          <p:cNvPr id="12" name="card-body">
            <a:extLst xmlns:a="http://schemas.openxmlformats.org/drawingml/2006/main">
              <a:ext uri="{FF2B5EF4-FFF2-40B4-BE49-F238E27FC236}">
                <a16:creationId xmlns:a16="http://schemas.microsoft.com/office/drawing/2014/main" id="{E0D1BA5F-C243-47AA-AE2D-6E0954B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481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Use managed PostgreSQL, backend service, frontend hosting, HTTPS, domain, and proper environment management.</a:t>
            </a:r>
          </a:p>
        </p:txBody>
      </p:sp>
      <p:sp>
        <p:nvSpPr>
          <p:cNvPr id="13" name="card">
            <a:extLst xmlns:a="http://schemas.openxmlformats.org/drawingml/2006/main">
              <a:ext uri="{FF2B5EF4-FFF2-40B4-BE49-F238E27FC236}">
                <a16:creationId xmlns:a16="http://schemas.microsoft.com/office/drawing/2014/main" id="{7C1F2C6C-5D5E-4924-A2D0-AAAD3D43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2260"/>
            <a:ext cx="8201025" cy="1751330"/>
          </a:xfrm>
          <a:prstGeom xmlns:a="http://schemas.openxmlformats.org/drawingml/2006/main" prst="roundRect">
            <a:avLst>
              <a:gd name="adj" fmla="val 979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B235A12-1C8E-4E8A-A91C-8A5C00F3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</p:spPr>
      </p:sp>
      <p:sp>
        <p:nvSpPr>
          <p:cNvPr id="15" name="card-title">
            <a:extLst xmlns:a="http://schemas.openxmlformats.org/drawingml/2006/main">
              <a:ext uri="{FF2B5EF4-FFF2-40B4-BE49-F238E27FC236}">
                <a16:creationId xmlns:a16="http://schemas.microsoft.com/office/drawing/2014/main" id="{72A1209F-D4EA-4BB3-B4FA-025A09B4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197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Background processing</a:t>
            </a:r>
          </a:p>
        </p:txBody>
      </p:sp>
      <p:sp>
        <p:nvSpPr>
          <p:cNvPr id="16" name="card-body">
            <a:extLst xmlns:a="http://schemas.openxmlformats.org/drawingml/2006/main">
              <a:ext uri="{FF2B5EF4-FFF2-40B4-BE49-F238E27FC236}">
                <a16:creationId xmlns:a16="http://schemas.microsoft.com/office/drawing/2014/main" id="{4C083D12-F189-4792-9EB5-32AC043B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388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Queue audio transcription and AI extraction so the UI remains responsive for large files.</a:t>
            </a:r>
          </a:p>
        </p:txBody>
      </p:sp>
      <p:sp>
        <p:nvSpPr>
          <p:cNvPr id="17" name="card">
            <a:extLst xmlns:a="http://schemas.openxmlformats.org/drawingml/2006/main">
              <a:ext uri="{FF2B5EF4-FFF2-40B4-BE49-F238E27FC236}">
                <a16:creationId xmlns:a16="http://schemas.microsoft.com/office/drawing/2014/main" id="{D2273B77-BF34-41B5-A334-2CB3F55F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382260"/>
            <a:ext cx="8201025" cy="1751330"/>
          </a:xfrm>
          <a:prstGeom xmlns:a="http://schemas.openxmlformats.org/drawingml/2006/main" prst="roundRect">
            <a:avLst>
              <a:gd name="adj" fmla="val 979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864B7B1-9779-4168-A72C-AF89F706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007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</p:spPr>
      </p:sp>
      <p:sp>
        <p:nvSpPr>
          <p:cNvPr id="19" name="card-title">
            <a:extLst xmlns:a="http://schemas.openxmlformats.org/drawingml/2006/main">
              <a:ext uri="{FF2B5EF4-FFF2-40B4-BE49-F238E27FC236}">
                <a16:creationId xmlns:a16="http://schemas.microsoft.com/office/drawing/2014/main" id="{3F76BDCD-B3B7-4FB5-9378-8CF1979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1975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Durable media storage</a:t>
            </a:r>
          </a:p>
        </p:txBody>
      </p:sp>
      <p:sp>
        <p:nvSpPr>
          <p:cNvPr id="20" name="card-body">
            <a:extLst xmlns:a="http://schemas.openxmlformats.org/drawingml/2006/main">
              <a:ext uri="{FF2B5EF4-FFF2-40B4-BE49-F238E27FC236}">
                <a16:creationId xmlns:a16="http://schemas.microsoft.com/office/drawing/2014/main" id="{C2CF622F-7601-431B-A032-8CC1E31A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03885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Move uploads to object storage or enterprise file storage with retention and access controls.</a:t>
            </a:r>
          </a:p>
        </p:txBody>
      </p:sp>
      <p:sp>
        <p:nvSpPr>
          <p:cNvPr id="21" name="card">
            <a:extLst xmlns:a="http://schemas.openxmlformats.org/drawingml/2006/main">
              <a:ext uri="{FF2B5EF4-FFF2-40B4-BE49-F238E27FC236}">
                <a16:creationId xmlns:a16="http://schemas.microsoft.com/office/drawing/2014/main" id="{6180853E-F9B0-43DB-B087-3973F8E3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24090"/>
            <a:ext cx="8201025" cy="1991360"/>
          </a:xfrm>
          <a:prstGeom xmlns:a="http://schemas.openxmlformats.org/drawingml/2006/main" prst="roundRect">
            <a:avLst>
              <a:gd name="adj" fmla="val 86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FFA8922-B944-4B6E-8A59-06C50290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438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1D48"/>
          </a:solidFill>
        </p:spPr>
      </p:sp>
      <p:sp>
        <p:nvSpPr>
          <p:cNvPr id="23" name="card-title">
            <a:extLst xmlns:a="http://schemas.openxmlformats.org/drawingml/2006/main">
              <a:ext uri="{FF2B5EF4-FFF2-40B4-BE49-F238E27FC236}">
                <a16:creationId xmlns:a16="http://schemas.microsoft.com/office/drawing/2014/main" id="{8A659EF4-41C3-488C-8793-35FB5490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5438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Model strategy</a:t>
            </a:r>
          </a:p>
        </p:txBody>
      </p:sp>
      <p:sp>
        <p:nvSpPr>
          <p:cNvPr id="24" name="card-body">
            <a:extLst xmlns:a="http://schemas.openxmlformats.org/drawingml/2006/main">
              <a:ext uri="{FF2B5EF4-FFF2-40B4-BE49-F238E27FC236}">
                <a16:creationId xmlns:a16="http://schemas.microsoft.com/office/drawing/2014/main" id="{55EA3824-988D-4B43-ABE2-C52B0D49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62900"/>
            <a:ext cx="7677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Choose local GPU Whisper/Ollama, cloud speech/LLM, or hybrid based on cost, privacy, accuracy, and latency.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4964E9FB-D088-4841-9565-6D16150E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7324090"/>
            <a:ext cx="8201025" cy="1991360"/>
          </a:xfrm>
          <a:prstGeom xmlns:a="http://schemas.openxmlformats.org/drawingml/2006/main" prst="roundRect">
            <a:avLst>
              <a:gd name="adj" fmla="val 861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5569120-3000-44C8-8F90-5360A5A7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543800"/>
            <a:ext cx="95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</p:spPr>
      </p:sp>
      <p:sp>
        <p:nvSpPr>
          <p:cNvPr id="27" name="card-title">
            <a:extLst xmlns:a="http://schemas.openxmlformats.org/drawingml/2006/main">
              <a:ext uri="{FF2B5EF4-FFF2-40B4-BE49-F238E27FC236}">
                <a16:creationId xmlns:a16="http://schemas.microsoft.com/office/drawing/2014/main" id="{517A5761-87CF-44AD-8AAD-B982B26E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543800"/>
            <a:ext cx="746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Operational features</a:t>
            </a:r>
          </a:p>
        </p:txBody>
      </p:sp>
      <p:sp>
        <p:nvSpPr>
          <p:cNvPr id="28" name="card-body">
            <a:extLst xmlns:a="http://schemas.openxmlformats.org/drawingml/2006/main">
              <a:ext uri="{FF2B5EF4-FFF2-40B4-BE49-F238E27FC236}">
                <a16:creationId xmlns:a16="http://schemas.microsoft.com/office/drawing/2014/main" id="{756C21E1-F7CB-4CBC-81F6-1E8A7CC5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962900"/>
            <a:ext cx="7677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Assignments, notifications, SLA, search, export, audit logs, mobile experience, and monitoring.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424C9DE-5F8A-46D1-8B6D-EE76C3F6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98C0232-88CC-4A30-9D0E-DA3C1B81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01202942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8A0D120-AA3E-4581-B7B1-651AFA00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0FC8777-F209-46C6-9C02-194B58F7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FINAL MESSAGE FOR SENIORS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D6A33C-605A-41A7-8C79-61730E5D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76300"/>
            <a:ext cx="114490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A"/>
                </a:solidFill>
              </a:defRPr>
            </a:pPr>
            <a:r>
              <a:rPr sz="4500" b="1">
                <a:solidFill>
                  <a:srgbClr val="0F172A"/>
                </a:solidFill>
              </a:rPr>
              <a:t>This MVP proves the inspection-to-decision loop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35F4B7-D9E5-4DF3-A256-FD847083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0687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569"/>
                </a:solidFill>
              </a:defRPr>
            </a:pPr>
            <a:r>
              <a:rPr sz="1950">
                <a:solidFill>
                  <a:srgbClr val="475569"/>
                </a:solidFill>
              </a:rPr>
              <a:t>The strongest story is not only AI; it is reliable structured maintenance workflow with optional intelligence.</a:t>
            </a:r>
          </a:p>
        </p:txBody>
      </p:sp>
      <p:sp>
        <p:nvSpPr>
          <p:cNvPr id="5" name="final-left">
            <a:extLst xmlns:a="http://schemas.openxmlformats.org/drawingml/2006/main">
              <a:ext uri="{FF2B5EF4-FFF2-40B4-BE49-F238E27FC236}">
                <a16:creationId xmlns:a16="http://schemas.microsoft.com/office/drawing/2014/main" id="{01273723-ED76-47BF-AE61-CD44083E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8181975" cy="61150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0F172A"/>
          </a:solidFill>
        </p:spPr>
      </p:sp>
      <p:sp>
        <p:nvSpPr>
          <p:cNvPr id="6" name="final-heading">
            <a:extLst xmlns:a="http://schemas.openxmlformats.org/drawingml/2006/main">
              <a:ext uri="{FF2B5EF4-FFF2-40B4-BE49-F238E27FC236}">
                <a16:creationId xmlns:a16="http://schemas.microsoft.com/office/drawing/2014/main" id="{00C5E56F-0221-4EAE-B490-B09DD600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7467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What to say</a:t>
            </a:r>
          </a:p>
        </p:txBody>
      </p:sp>
      <p:sp>
        <p:nvSpPr>
          <p:cNvPr id="7" name="final-statement">
            <a:extLst xmlns:a="http://schemas.openxmlformats.org/drawingml/2006/main">
              <a:ext uri="{FF2B5EF4-FFF2-40B4-BE49-F238E27FC236}">
                <a16:creationId xmlns:a16="http://schemas.microsoft.com/office/drawing/2014/main" id="{0944259F-96EB-4A68-9A76-CD3960CD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74676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1F5F9"/>
                </a:solidFill>
              </a:defRPr>
            </a:pPr>
            <a:r>
              <a:rPr sz="2250">
                <a:solidFill>
                  <a:srgbClr val="F1F5F9"/>
                </a:solidFill>
              </a:rPr>
              <a:t>We built a working railway maintenance logbook where inspectors can capture defects with transcript, audio, and image evidence; the backend structures the report; supervisors act on it; managers see analytics.</a:t>
            </a:r>
          </a:p>
        </p:txBody>
      </p:sp>
      <p:sp>
        <p:nvSpPr>
          <p:cNvPr id="8" name="final-right">
            <a:extLst xmlns:a="http://schemas.openxmlformats.org/drawingml/2006/main">
              <a:ext uri="{FF2B5EF4-FFF2-40B4-BE49-F238E27FC236}">
                <a16:creationId xmlns:a16="http://schemas.microsoft.com/office/drawing/2014/main" id="{A6CF928E-739D-491B-B497-8CBD7C00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00400"/>
            <a:ext cx="8181975" cy="61150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bullet-dot">
            <a:extLst xmlns:a="http://schemas.openxmlformats.org/drawingml/2006/main">
              <a:ext uri="{FF2B5EF4-FFF2-40B4-BE49-F238E27FC236}">
                <a16:creationId xmlns:a16="http://schemas.microsoft.com/office/drawing/2014/main" id="{B4E0CFC1-7FC2-4020-B801-0A9D9C1D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24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0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97ED6FBA-BFE5-40F3-BA96-C5338EA5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24250"/>
            <a:ext cx="716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Reliability</a:t>
            </a:r>
          </a:p>
        </p:txBody>
      </p:sp>
      <p:sp>
        <p:nvSpPr>
          <p:cNvPr id="11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9DF759D-23E5-47A5-920F-81289DC2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67150"/>
            <a:ext cx="716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Rule-based extraction keeps the core demo fast and explainable.</a:t>
            </a:r>
          </a:p>
        </p:txBody>
      </p:sp>
      <p:sp>
        <p:nvSpPr>
          <p:cNvPr id="12" name="bullet-dot">
            <a:extLst xmlns:a="http://schemas.openxmlformats.org/drawingml/2006/main">
              <a:ext uri="{FF2B5EF4-FFF2-40B4-BE49-F238E27FC236}">
                <a16:creationId xmlns:a16="http://schemas.microsoft.com/office/drawing/2014/main" id="{68052296-3209-4690-9B74-856D1C0A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343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3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193FA480-0F75-41F1-AB34-066E78B4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43400"/>
            <a:ext cx="716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Intelligence</a:t>
            </a:r>
          </a:p>
        </p:txBody>
      </p:sp>
      <p:sp>
        <p:nvSpPr>
          <p:cNvPr id="14" name="bullet-body">
            <a:extLst xmlns:a="http://schemas.openxmlformats.org/drawingml/2006/main">
              <a:ext uri="{FF2B5EF4-FFF2-40B4-BE49-F238E27FC236}">
                <a16:creationId xmlns:a16="http://schemas.microsoft.com/office/drawing/2014/main" id="{ED491803-220D-4F74-A6D3-0E6D9A94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86300"/>
            <a:ext cx="716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Whisper and Ollama are integrated as optional local AI layers.</a:t>
            </a:r>
          </a:p>
        </p:txBody>
      </p:sp>
      <p:sp>
        <p:nvSpPr>
          <p:cNvPr id="15" name="bullet-dot">
            <a:extLst xmlns:a="http://schemas.openxmlformats.org/drawingml/2006/main">
              <a:ext uri="{FF2B5EF4-FFF2-40B4-BE49-F238E27FC236}">
                <a16:creationId xmlns:a16="http://schemas.microsoft.com/office/drawing/2014/main" id="{45E6828A-CD9F-4783-AC28-A3419DCD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162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6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668FA25B-E7E8-41CC-ABD2-1A5FE4AA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162550"/>
            <a:ext cx="716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Traceability</a:t>
            </a:r>
          </a:p>
        </p:txBody>
      </p:sp>
      <p:sp>
        <p:nvSpPr>
          <p:cNvPr id="17" name="bullet-body">
            <a:extLst xmlns:a="http://schemas.openxmlformats.org/drawingml/2006/main">
              <a:ext uri="{FF2B5EF4-FFF2-40B4-BE49-F238E27FC236}">
                <a16:creationId xmlns:a16="http://schemas.microsoft.com/office/drawing/2014/main" id="{8EB9B6A7-9AC0-47D2-894F-7DAFF40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505450"/>
            <a:ext cx="7162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Defect, evidence, user, and status history are stored as separate records.</a:t>
            </a:r>
          </a:p>
        </p:txBody>
      </p:sp>
      <p:sp>
        <p:nvSpPr>
          <p:cNvPr id="18" name="bullet-dot">
            <a:extLst xmlns:a="http://schemas.openxmlformats.org/drawingml/2006/main">
              <a:ext uri="{FF2B5EF4-FFF2-40B4-BE49-F238E27FC236}">
                <a16:creationId xmlns:a16="http://schemas.microsoft.com/office/drawing/2014/main" id="{632E86C1-0A60-4EFF-AF79-B9A0376A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981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</p:spPr>
      </p:sp>
      <p:sp>
        <p:nvSpPr>
          <p:cNvPr id="19" name="bullet-label">
            <a:extLst xmlns:a="http://schemas.openxmlformats.org/drawingml/2006/main">
              <a:ext uri="{FF2B5EF4-FFF2-40B4-BE49-F238E27FC236}">
                <a16:creationId xmlns:a16="http://schemas.microsoft.com/office/drawing/2014/main" id="{57ABBCC3-A235-4FC3-A218-32003928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981700"/>
            <a:ext cx="7162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Scalability path</a:t>
            </a:r>
          </a:p>
        </p:txBody>
      </p:sp>
      <p:sp>
        <p:nvSpPr>
          <p:cNvPr id="20" name="bullet-body">
            <a:extLst xmlns:a="http://schemas.openxmlformats.org/drawingml/2006/main">
              <a:ext uri="{FF2B5EF4-FFF2-40B4-BE49-F238E27FC236}">
                <a16:creationId xmlns:a16="http://schemas.microsoft.com/office/drawing/2014/main" id="{F9072DC5-077B-47BD-99F0-625640C9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324600"/>
            <a:ext cx="7162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75569"/>
                </a:solidFill>
              </a:defRPr>
            </a:pPr>
            <a:r>
              <a:rPr sz="1575">
                <a:solidFill>
                  <a:srgbClr val="475569"/>
                </a:solidFill>
              </a:rPr>
              <a:t>The same architecture can move to real auth, background jobs, object storage, and production DB.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BF83A3-8853-41A3-8E42-54DD2E29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63100"/>
            <a:ext cx="1623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Smart Maintenance Logbook Web MVP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80C4302-E9D0-4624-A1D0-158D7B81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56310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16151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2026-05-18T13:40:10.3480000Z</dcterms:created>
  <dcterms:modified xsi:type="dcterms:W3CDTF">2026-05-18T13:40:10.3480000Z</dcterms:modified>
</coreProperties>
</file>